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Barlow" panose="00000500000000000000" pitchFamily="2" charset="0"/>
      <p:regular r:id="rId15"/>
      <p:bold r:id="rId16"/>
      <p:italic r:id="rId17"/>
      <p:boldItalic r:id="rId18"/>
    </p:embeddedFont>
    <p:embeddedFont>
      <p:font typeface="K2D" panose="00000500000000000000" pitchFamily="2" charset="-34"/>
      <p:regular r:id="rId19"/>
      <p:bold r:id="rId20"/>
      <p:italic r:id="rId21"/>
      <p:boldItalic r:id="rId22"/>
    </p:embeddedFont>
    <p:embeddedFont>
      <p:font typeface="Readex Pro" pitchFamily="2" charset="-78"/>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CAA"/>
    <a:srgbClr val="CCFFFF"/>
    <a:srgbClr val="00AFEF"/>
    <a:srgbClr val="FFFFFF"/>
    <a:srgbClr val="27ACE3"/>
    <a:srgbClr val="1F5CA9"/>
    <a:srgbClr val="F2F2F2"/>
    <a:srgbClr val="000000"/>
    <a:srgbClr val="D9D9D9"/>
    <a:srgbClr val="BABA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31" autoAdjust="0"/>
    <p:restoredTop sz="94660"/>
  </p:normalViewPr>
  <p:slideViewPr>
    <p:cSldViewPr snapToGrid="0">
      <p:cViewPr varScale="1">
        <p:scale>
          <a:sx n="82" d="100"/>
          <a:sy n="82" d="100"/>
        </p:scale>
        <p:origin x="816"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Tỉ lệ</c:v>
                </c:pt>
              </c:strCache>
            </c:strRef>
          </c:tx>
          <c:invertIfNegative val="1"/>
          <c:dPt>
            <c:idx val="0"/>
            <c:invertIfNegative val="1"/>
            <c:bubble3D val="0"/>
            <c:spPr>
              <a:solidFill>
                <a:srgbClr val="00AFEF"/>
              </a:solidFill>
            </c:spPr>
            <c:extLst>
              <c:ext xmlns:c16="http://schemas.microsoft.com/office/drawing/2014/chart" uri="{C3380CC4-5D6E-409C-BE32-E72D297353CC}">
                <c16:uniqueId val="{00000001-BA1D-497D-892C-D69065E47777}"/>
              </c:ext>
            </c:extLst>
          </c:dPt>
          <c:dPt>
            <c:idx val="1"/>
            <c:invertIfNegative val="1"/>
            <c:bubble3D val="0"/>
            <c:spPr>
              <a:solidFill>
                <a:srgbClr val="1F5CA9"/>
              </a:solidFill>
            </c:spPr>
            <c:extLst>
              <c:ext xmlns:c16="http://schemas.microsoft.com/office/drawing/2014/chart" uri="{C3380CC4-5D6E-409C-BE32-E72D297353CC}">
                <c16:uniqueId val="{00000003-BA1D-497D-892C-D69065E47777}"/>
              </c:ext>
            </c:extLst>
          </c:dPt>
          <c:dLbls>
            <c:numFmt formatCode="0&quot;%&quot;" sourceLinked="0"/>
            <c:spPr>
              <a:noFill/>
              <a:ln>
                <a:noFill/>
              </a:ln>
              <a:effectLst/>
            </c:spPr>
            <c:txPr>
              <a:bodyPr/>
              <a:lstStyle/>
              <a:p>
                <a:pPr>
                  <a:defRPr sz="1400" b="1">
                    <a:solidFill>
                      <a:srgbClr val="1F2937"/>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2023</c:v>
                </c:pt>
                <c:pt idx="1">
                  <c:v>2025</c:v>
                </c:pt>
              </c:strCache>
            </c:strRef>
          </c:cat>
          <c:val>
            <c:numRef>
              <c:f>Sheet1!$B$2:$B$3</c:f>
              <c:numCache>
                <c:formatCode>General</c:formatCode>
                <c:ptCount val="2"/>
                <c:pt idx="0">
                  <c:v>72</c:v>
                </c:pt>
                <c:pt idx="1">
                  <c:v>58</c:v>
                </c:pt>
              </c:numCache>
            </c:numRef>
          </c:val>
          <c:extLst>
            <c:ext xmlns:c16="http://schemas.microsoft.com/office/drawing/2014/chart" uri="{C3380CC4-5D6E-409C-BE32-E72D297353CC}">
              <c16:uniqueId val="{00000004-BA1D-497D-892C-D69065E47777}"/>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8C4D4"/>
            </a:solidFill>
          </a:ln>
        </c:spPr>
        <c:txPr>
          <a:bodyPr/>
          <a:lstStyle/>
          <a:p>
            <a:pPr>
              <a:defRPr sz="1300">
                <a:solidFill>
                  <a:srgbClr val="1F2937"/>
                </a:solidFill>
                <a:latin typeface="Calibri"/>
              </a:defRPr>
            </a:pPr>
            <a:endParaRPr lang="en-US"/>
          </a:p>
        </c:txPr>
        <c:crossAx val="-2113994440"/>
        <c:crosses val="autoZero"/>
        <c:auto val="1"/>
        <c:lblAlgn val="ctr"/>
        <c:lblOffset val="100"/>
        <c:noMultiLvlLbl val="0"/>
      </c:catAx>
      <c:valAx>
        <c:axId val="-2113994440"/>
        <c:scaling>
          <c:orientation val="minMax"/>
          <c:max val="9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Tỉ lệ</c:v>
                </c:pt>
              </c:strCache>
            </c:strRef>
          </c:tx>
          <c:invertIfNegative val="1"/>
          <c:dPt>
            <c:idx val="0"/>
            <c:invertIfNegative val="1"/>
            <c:bubble3D val="0"/>
            <c:spPr>
              <a:solidFill>
                <a:srgbClr val="00AFEF"/>
              </a:solidFill>
            </c:spPr>
            <c:extLst>
              <c:ext xmlns:c16="http://schemas.microsoft.com/office/drawing/2014/chart" uri="{C3380CC4-5D6E-409C-BE32-E72D297353CC}">
                <c16:uniqueId val="{00000001-FF10-480F-BB34-4DFB730CC498}"/>
              </c:ext>
            </c:extLst>
          </c:dPt>
          <c:dPt>
            <c:idx val="1"/>
            <c:invertIfNegative val="1"/>
            <c:bubble3D val="0"/>
            <c:spPr>
              <a:solidFill>
                <a:srgbClr val="1F5CA9"/>
              </a:solidFill>
            </c:spPr>
            <c:extLst>
              <c:ext xmlns:c16="http://schemas.microsoft.com/office/drawing/2014/chart" uri="{C3380CC4-5D6E-409C-BE32-E72D297353CC}">
                <c16:uniqueId val="{00000003-FF10-480F-BB34-4DFB730CC498}"/>
              </c:ext>
            </c:extLst>
          </c:dPt>
          <c:dLbls>
            <c:numFmt formatCode="0&quot;%&quot;" sourceLinked="0"/>
            <c:spPr>
              <a:noFill/>
              <a:ln>
                <a:noFill/>
              </a:ln>
              <a:effectLst/>
            </c:spPr>
            <c:txPr>
              <a:bodyPr/>
              <a:lstStyle/>
              <a:p>
                <a:pPr>
                  <a:defRPr sz="1400" b="1">
                    <a:solidFill>
                      <a:srgbClr val="1F2937"/>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2021</c:v>
                </c:pt>
                <c:pt idx="1">
                  <c:v>2025</c:v>
                </c:pt>
              </c:strCache>
            </c:strRef>
          </c:cat>
          <c:val>
            <c:numRef>
              <c:f>Sheet1!$B$2:$B$3</c:f>
              <c:numCache>
                <c:formatCode>General</c:formatCode>
                <c:ptCount val="2"/>
                <c:pt idx="0">
                  <c:v>37</c:v>
                </c:pt>
                <c:pt idx="1">
                  <c:v>50</c:v>
                </c:pt>
              </c:numCache>
            </c:numRef>
          </c:val>
          <c:extLst>
            <c:ext xmlns:c16="http://schemas.microsoft.com/office/drawing/2014/chart" uri="{C3380CC4-5D6E-409C-BE32-E72D297353CC}">
              <c16:uniqueId val="{00000004-FF10-480F-BB34-4DFB730CC498}"/>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8C4D4"/>
            </a:solidFill>
          </a:ln>
        </c:spPr>
        <c:txPr>
          <a:bodyPr/>
          <a:lstStyle/>
          <a:p>
            <a:pPr>
              <a:defRPr sz="1300">
                <a:solidFill>
                  <a:srgbClr val="1F2937"/>
                </a:solidFill>
                <a:latin typeface="Calibri"/>
              </a:defRPr>
            </a:pPr>
            <a:endParaRPr lang="en-US"/>
          </a:p>
        </c:txPr>
        <c:crossAx val="-2113994440"/>
        <c:crosses val="autoZero"/>
        <c:auto val="1"/>
        <c:lblAlgn val="ctr"/>
        <c:lblOffset val="100"/>
        <c:noMultiLvlLbl val="0"/>
      </c:catAx>
      <c:valAx>
        <c:axId val="-2113994440"/>
        <c:scaling>
          <c:orientation val="minMax"/>
          <c:max val="9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Tổng điểm /25</c:v>
                </c:pt>
              </c:strCache>
            </c:strRef>
          </c:tx>
          <c:invertIfNegative val="1"/>
          <c:dPt>
            <c:idx val="0"/>
            <c:invertIfNegative val="1"/>
            <c:bubble3D val="0"/>
            <c:spPr>
              <a:solidFill>
                <a:srgbClr val="E08A00"/>
              </a:solidFill>
            </c:spPr>
            <c:extLst>
              <c:ext xmlns:c16="http://schemas.microsoft.com/office/drawing/2014/chart" uri="{C3380CC4-5D6E-409C-BE32-E72D297353CC}">
                <c16:uniqueId val="{00000001-D5CC-4B29-B149-C3D43495572D}"/>
              </c:ext>
            </c:extLst>
          </c:dPt>
          <c:dPt>
            <c:idx val="1"/>
            <c:invertIfNegative val="1"/>
            <c:bubble3D val="0"/>
            <c:spPr>
              <a:solidFill>
                <a:srgbClr val="E08A00"/>
              </a:solidFill>
            </c:spPr>
            <c:extLst>
              <c:ext xmlns:c16="http://schemas.microsoft.com/office/drawing/2014/chart" uri="{C3380CC4-5D6E-409C-BE32-E72D297353CC}">
                <c16:uniqueId val="{00000003-D5CC-4B29-B149-C3D43495572D}"/>
              </c:ext>
            </c:extLst>
          </c:dPt>
          <c:dPt>
            <c:idx val="2"/>
            <c:invertIfNegative val="1"/>
            <c:bubble3D val="0"/>
            <c:spPr>
              <a:solidFill>
                <a:srgbClr val="1F5CA9"/>
              </a:solidFill>
            </c:spPr>
            <c:extLst>
              <c:ext xmlns:c16="http://schemas.microsoft.com/office/drawing/2014/chart" uri="{C3380CC4-5D6E-409C-BE32-E72D297353CC}">
                <c16:uniqueId val="{00000005-D5CC-4B29-B149-C3D43495572D}"/>
              </c:ext>
            </c:extLst>
          </c:dPt>
          <c:dPt>
            <c:idx val="3"/>
            <c:invertIfNegative val="1"/>
            <c:bubble3D val="0"/>
            <c:spPr>
              <a:solidFill>
                <a:srgbClr val="1F5CA9"/>
              </a:solidFill>
            </c:spPr>
            <c:extLst>
              <c:ext xmlns:c16="http://schemas.microsoft.com/office/drawing/2014/chart" uri="{C3380CC4-5D6E-409C-BE32-E72D297353CC}">
                <c16:uniqueId val="{00000007-D5CC-4B29-B149-C3D43495572D}"/>
              </c:ext>
            </c:extLst>
          </c:dPt>
          <c:dPt>
            <c:idx val="4"/>
            <c:invertIfNegative val="1"/>
            <c:bubble3D val="0"/>
            <c:spPr>
              <a:solidFill>
                <a:srgbClr val="1F5CA9"/>
              </a:solidFill>
            </c:spPr>
            <c:extLst>
              <c:ext xmlns:c16="http://schemas.microsoft.com/office/drawing/2014/chart" uri="{C3380CC4-5D6E-409C-BE32-E72D297353CC}">
                <c16:uniqueId val="{00000009-D5CC-4B29-B149-C3D43495572D}"/>
              </c:ext>
            </c:extLst>
          </c:dPt>
          <c:dPt>
            <c:idx val="5"/>
            <c:invertIfNegative val="1"/>
            <c:bubble3D val="0"/>
            <c:spPr>
              <a:solidFill>
                <a:srgbClr val="1F5CA9"/>
              </a:solidFill>
            </c:spPr>
            <c:extLst>
              <c:ext xmlns:c16="http://schemas.microsoft.com/office/drawing/2014/chart" uri="{C3380CC4-5D6E-409C-BE32-E72D297353CC}">
                <c16:uniqueId val="{0000000B-D5CC-4B29-B149-C3D43495572D}"/>
              </c:ext>
            </c:extLst>
          </c:dPt>
          <c:dPt>
            <c:idx val="6"/>
            <c:invertIfNegative val="1"/>
            <c:bubble3D val="0"/>
            <c:spPr>
              <a:solidFill>
                <a:srgbClr val="1F5CA9"/>
              </a:solidFill>
            </c:spPr>
            <c:extLst>
              <c:ext xmlns:c16="http://schemas.microsoft.com/office/drawing/2014/chart" uri="{C3380CC4-5D6E-409C-BE32-E72D297353CC}">
                <c16:uniqueId val="{0000000D-D5CC-4B29-B149-C3D43495572D}"/>
              </c:ext>
            </c:extLst>
          </c:dPt>
          <c:dLbls>
            <c:spPr>
              <a:noFill/>
              <a:ln>
                <a:noFill/>
              </a:ln>
              <a:effectLst/>
            </c:spPr>
            <c:txPr>
              <a:bodyPr/>
              <a:lstStyle/>
              <a:p>
                <a:pPr>
                  <a:defRPr sz="1400" b="1">
                    <a:solidFill>
                      <a:srgbClr val="1F2937"/>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Enterprise Nation</c:v>
                </c:pt>
                <c:pt idx="1">
                  <c:v>Microsoft – LinkedIn</c:v>
                </c:pt>
                <c:pt idx="2">
                  <c:v>UNESCO IITE</c:v>
                </c:pt>
                <c:pt idx="3">
                  <c:v>Capgemini</c:v>
                </c:pt>
                <c:pt idx="4">
                  <c:v>Stanford HAI</c:v>
                </c:pt>
                <c:pt idx="5">
                  <c:v>Pew Research</c:v>
                </c:pt>
                <c:pt idx="6">
                  <c:v>OECD</c:v>
                </c:pt>
              </c:strCache>
            </c:strRef>
          </c:cat>
          <c:val>
            <c:numRef>
              <c:f>Sheet1!$B$2:$B$8</c:f>
              <c:numCache>
                <c:formatCode>General</c:formatCode>
                <c:ptCount val="7"/>
                <c:pt idx="0">
                  <c:v>12</c:v>
                </c:pt>
                <c:pt idx="1">
                  <c:v>13</c:v>
                </c:pt>
                <c:pt idx="2">
                  <c:v>20</c:v>
                </c:pt>
                <c:pt idx="3">
                  <c:v>20</c:v>
                </c:pt>
                <c:pt idx="4">
                  <c:v>22</c:v>
                </c:pt>
                <c:pt idx="5">
                  <c:v>23</c:v>
                </c:pt>
                <c:pt idx="6">
                  <c:v>24</c:v>
                </c:pt>
              </c:numCache>
            </c:numRef>
          </c:val>
          <c:extLst>
            <c:ext xmlns:c16="http://schemas.microsoft.com/office/drawing/2014/chart" uri="{C3380CC4-5D6E-409C-BE32-E72D297353CC}">
              <c16:uniqueId val="{0000000E-D5CC-4B29-B149-C3D43495572D}"/>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8C4D4"/>
            </a:solidFill>
          </a:ln>
        </c:spPr>
        <c:txPr>
          <a:bodyPr/>
          <a:lstStyle/>
          <a:p>
            <a:pPr>
              <a:defRPr sz="1400">
                <a:solidFill>
                  <a:srgbClr val="1F2937"/>
                </a:solidFill>
                <a:latin typeface="Calibri"/>
              </a:defRPr>
            </a:pPr>
            <a:endParaRPr lang="en-US"/>
          </a:p>
        </c:txPr>
        <c:crossAx val="-2113994440"/>
        <c:crosses val="autoZero"/>
        <c:auto val="1"/>
        <c:lblAlgn val="ctr"/>
        <c:lblOffset val="100"/>
        <c:noMultiLvlLbl val="0"/>
      </c:catAx>
      <c:valAx>
        <c:axId val="-2113994440"/>
        <c:scaling>
          <c:orientation val="minMax"/>
          <c:max val="2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301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Chào thầy cô và các bạn. Nhóm xin trình bày dự án "Vai trò của AI trong các công cụ hằng ngày". Phần trình bày gồm: tổng quan chủ đề, điểm nổi bật nghiên cứu, quy trình nghiên cứu (có sự hỗ trợ của AI và đánh giá CRAAP), video, và phần thảo luận.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Nhắc lại lý do chọn đề tài: AI đã quen thuộc (ChatGPT, Google Dịch, nền tảng giải trí) nhưng không phải lúc nào cũng chính xác. Nêu 5 mục tiêu nghiên cứu. Nhấn mạnh phạm vi: nghiên cứu qua tài liệu thứ cấp, không đi sâu kỹ thuật lập trình.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Định nghĩa AI ngắn gọn rồi đi qua 4 công nghệ: học máy, NLP, AI tạo sinh, hệ thống gợi ý. Mỗi công nghệ có một ví dụ quen thuộc và một lưu ý đi kèm.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Bốn nhóm vai trò của AI: học tập và tìm kiếm, dịch thuật, giao tiếp và sáng tạo, giải trí cá nhân hóa. Với mỗi nhóm, nêu AI giúp được gì và lưu ý gì.</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số liệu lấy từ bảng đánh giá nguồn của nhóm. OECD: hơn 1/3 cá nhân dùng AI tạo sinh năm 2025. Stanford HAI: mức chấp nhận AI tạo sinh đạt 53% trong ba năm. Capgemini: 1/3 người dùng AI hơn một giờ mỗi ngày, nhưng niềm tin vào nội dung AI giảm từ 72% xuống 58%. Pew: lo ngại nhiều hơn hào hứng tăng từ 37% lên 50%. Lưu ý: các số liệu đến từ những khảo sát khác nhau, không so sánh trực tiếp với nhau.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tả quy trình 4 bước. Nêu rõ nhóm dùng ChatGPT để gợi ý ý tưởng, dựng dàn ý, giải thích khái niệm và tham khảo cách trình bày; báo cáo cũng ghi nhận Gemini là ứng dụng AI hỗ trợ. Nhấn mạnh nhóm không dùng nguyên văn nội dung AI, mà chọn lọc, chỉnh sửa, đối chiếu với tài liệu.</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5 tiêu chí CRAAP. Nhóm chấm từng tiêu chí theo thang 1 đến 5, tổng tối đa 25 điểm, rồi tính trung bình. Bảng dưới là kết quả đánh giá 7 nguồn trong báo cáo (Hình 3-1).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Biểu đồ tổng điểm /25 của 7 nguồn. OECD cao nhất (24), tiếp theo Pew (23) và Stanford HAI (22). Hai nguồn điểm thấp là Microsoft-LinkedIn (13) và Enterprise Nation (12) vì có yếu tố quảng bá sản phẩm, dịch vụ; nhóm chỉ dùng làm ví dụ minh họa, không dùng làm bằng chứng chính.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Khu vực chiếu video của nhóm. Chèn video bằng Insert &gt; Video (hoặc đặt liên kết vào khung này) trước khi báo cáo.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Bên trái là bốn rủi ro khi lạm dụng AI; bên phải là năm nguyên tắc dùng có trách nhiệm. Ví dụ câu lệnh tốt trong báo cáo: thay vì "Viết về AI", hãy yêu cầu "Trình bày lợi ích và hạn chế của AI trong học tập bằng ngôn ngữ đơn giản", rồi đối chiếu kết quả với nguồn đáng tin cậy.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Mời cả lớp thảo luận. Các câu hỏi bám theo nội dung báo cáo: AI ẩn trong công cụ quen thuộc, cách kiểm chứng thông tin, ranh giới hỗ trợ và làm thay, hệ thống gợi ý, và việc khai báo sử dụng AI.</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Cảm ơn thầy cô và các bạn đã lắng nghe. Nhóm sẵn sàng trả lời câu hỏi.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737"/>
            <a:ext cx="1061859" cy="1062060"/>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7" name="Group 6">
            <a:extLst>
              <a:ext uri="{FF2B5EF4-FFF2-40B4-BE49-F238E27FC236}">
                <a16:creationId xmlns:a16="http://schemas.microsoft.com/office/drawing/2014/main" id="{500C3C4B-7EB0-A799-EF60-7E7B2A1A5D71}"/>
              </a:ext>
            </a:extLst>
          </p:cNvPr>
          <p:cNvGrpSpPr/>
          <p:nvPr userDrawn="1"/>
        </p:nvGrpSpPr>
        <p:grpSpPr>
          <a:xfrm rot="5400000" flipH="1">
            <a:off x="11994349" y="89858"/>
            <a:ext cx="108319" cy="107166"/>
            <a:chOff x="9886950" y="442913"/>
            <a:chExt cx="216694" cy="214386"/>
          </a:xfrm>
        </p:grpSpPr>
        <p:sp>
          <p:nvSpPr>
            <p:cNvPr id="2" name="Rectangle: Rounded Corners 1">
              <a:extLst>
                <a:ext uri="{FF2B5EF4-FFF2-40B4-BE49-F238E27FC236}">
                  <a16:creationId xmlns:a16="http://schemas.microsoft.com/office/drawing/2014/main" id="{A5889A1F-7953-5C39-8687-FF30BEEED6A0}"/>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EFB534-7696-D26C-4ED3-9370C4BF548C}"/>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CEBF6C9-F2A0-D7EA-46F2-E2BED25E4EEB}"/>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FC287AC-3830-D280-1DFB-099F1C622FCC}"/>
              </a:ext>
            </a:extLst>
          </p:cNvPr>
          <p:cNvPicPr>
            <a:picLocks noChangeAspect="1"/>
          </p:cNvPicPr>
          <p:nvPr userDrawn="1"/>
        </p:nvPicPr>
        <p:blipFill>
          <a:blip r:embed="rId3"/>
          <a:stretch>
            <a:fillRect/>
          </a:stretch>
        </p:blipFill>
        <p:spPr>
          <a:xfrm>
            <a:off x="2585036" y="6478829"/>
            <a:ext cx="9326880" cy="118101"/>
          </a:xfrm>
          <a:prstGeom prst="rect">
            <a:avLst/>
          </a:prstGeom>
        </p:spPr>
      </p:pic>
      <p:sp>
        <p:nvSpPr>
          <p:cNvPr id="9" name="Slide Number Placeholder 5">
            <a:extLst>
              <a:ext uri="{FF2B5EF4-FFF2-40B4-BE49-F238E27FC236}">
                <a16:creationId xmlns:a16="http://schemas.microsoft.com/office/drawing/2014/main" id="{FC61D4A3-C96E-946C-BF56-14B0317E483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10" name="Rectangle 9">
            <a:extLst>
              <a:ext uri="{FF2B5EF4-FFF2-40B4-BE49-F238E27FC236}">
                <a16:creationId xmlns:a16="http://schemas.microsoft.com/office/drawing/2014/main" id="{4DFDF354-0251-FE65-2C5F-25380E57F03B}"/>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13" name="Group 12">
            <a:extLst>
              <a:ext uri="{FF2B5EF4-FFF2-40B4-BE49-F238E27FC236}">
                <a16:creationId xmlns:a16="http://schemas.microsoft.com/office/drawing/2014/main" id="{076B934B-7F60-9EFE-CEAF-A531BBACD851}"/>
              </a:ext>
            </a:extLst>
          </p:cNvPr>
          <p:cNvGrpSpPr/>
          <p:nvPr userDrawn="1"/>
        </p:nvGrpSpPr>
        <p:grpSpPr>
          <a:xfrm>
            <a:off x="817685" y="6410864"/>
            <a:ext cx="2760487" cy="403790"/>
            <a:chOff x="741485" y="6410864"/>
            <a:chExt cx="2760487" cy="403790"/>
          </a:xfrm>
        </p:grpSpPr>
        <p:sp>
          <p:nvSpPr>
            <p:cNvPr id="14" name="TextBox 13">
              <a:extLst>
                <a:ext uri="{FF2B5EF4-FFF2-40B4-BE49-F238E27FC236}">
                  <a16:creationId xmlns:a16="http://schemas.microsoft.com/office/drawing/2014/main" id="{8BAF9606-2A17-830C-304D-88D56EDB1C47}"/>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44ADAA7A-04F6-2616-50B0-A84AF6F98FE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6BF1CC2D-4F33-60C3-D015-EE4B3346464B}"/>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7" name="Date Placeholder 3">
            <a:extLst>
              <a:ext uri="{FF2B5EF4-FFF2-40B4-BE49-F238E27FC236}">
                <a16:creationId xmlns:a16="http://schemas.microsoft.com/office/drawing/2014/main" id="{1C43A459-4626-2124-180B-282157DA33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10/18/2026</a:t>
            </a:fld>
            <a:endParaRPr lang="en-US"/>
          </a:p>
        </p:txBody>
      </p:sp>
      <p:sp>
        <p:nvSpPr>
          <p:cNvPr id="18" name="Footer Placeholder 4">
            <a:extLst>
              <a:ext uri="{FF2B5EF4-FFF2-40B4-BE49-F238E27FC236}">
                <a16:creationId xmlns:a16="http://schemas.microsoft.com/office/drawing/2014/main" id="{386F145B-841B-1EA7-87E9-B007B9A54080}"/>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236778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bg>
      <p:bgPr>
        <a:solidFill>
          <a:schemeClr val="bg1"/>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rgbClr val="0070C0"/>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rgbClr val="0070C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679"/>
            <a:ext cx="1061859" cy="1062177"/>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rgbClr val="00AFEF"/>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8" name="Picture 17"/>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F92E844-1828-0F51-3BFD-DF527D65BF8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CC0BC67-81A5-AC24-0BB4-9D1D3E835D94}"/>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6" name="Group 5">
            <a:extLst>
              <a:ext uri="{FF2B5EF4-FFF2-40B4-BE49-F238E27FC236}">
                <a16:creationId xmlns:a16="http://schemas.microsoft.com/office/drawing/2014/main" id="{02AE1EA0-6222-87BA-38C9-866FE8F2830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EC606771-B50F-5EF5-AF4C-183C88EEC70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7A8AD8D-BBBE-FFAE-563D-62AF760A44A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F63336F-2FD5-E8B2-B179-80665CF8D4BA}"/>
              </a:ext>
            </a:extLst>
          </p:cNvPr>
          <p:cNvSpPr txBox="1"/>
          <p:nvPr userDrawn="1"/>
        </p:nvSpPr>
        <p:spPr>
          <a:xfrm>
            <a:off x="10529591"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8A62A7F-4A0D-8203-BB6A-E6AFE62BD36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8649E161-4DC5-D15C-6DAE-AE38C664B5FB}"/>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4" name="Footer Placeholder 4">
            <a:extLst>
              <a:ext uri="{FF2B5EF4-FFF2-40B4-BE49-F238E27FC236}">
                <a16:creationId xmlns:a16="http://schemas.microsoft.com/office/drawing/2014/main" id="{CDD46289-EAED-BF63-CD78-95A65C49BE50}"/>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15379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logo">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686872"/>
            <a:ext cx="11205713" cy="2200204"/>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2887077"/>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sp>
        <p:nvSpPr>
          <p:cNvPr id="22" name="Text Placeholder 9"/>
          <p:cNvSpPr>
            <a:spLocks noGrp="1"/>
          </p:cNvSpPr>
          <p:nvPr>
            <p:ph type="body" sz="quarter" idx="12" hasCustomPrompt="1"/>
          </p:nvPr>
        </p:nvSpPr>
        <p:spPr>
          <a:xfrm>
            <a:off x="493144" y="3947960"/>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3805958"/>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2" name="Group 1">
            <a:extLst>
              <a:ext uri="{FF2B5EF4-FFF2-40B4-BE49-F238E27FC236}">
                <a16:creationId xmlns:a16="http://schemas.microsoft.com/office/drawing/2014/main" id="{F9948C5E-76A7-F702-69DB-282464E77641}"/>
              </a:ext>
            </a:extLst>
          </p:cNvPr>
          <p:cNvGrpSpPr/>
          <p:nvPr userDrawn="1"/>
        </p:nvGrpSpPr>
        <p:grpSpPr>
          <a:xfrm rot="5400000" flipH="1">
            <a:off x="11994349" y="89858"/>
            <a:ext cx="108319" cy="107166"/>
            <a:chOff x="9886950" y="442913"/>
            <a:chExt cx="216694" cy="214386"/>
          </a:xfrm>
        </p:grpSpPr>
        <p:sp>
          <p:nvSpPr>
            <p:cNvPr id="4" name="Rectangle: Rounded Corners 3">
              <a:extLst>
                <a:ext uri="{FF2B5EF4-FFF2-40B4-BE49-F238E27FC236}">
                  <a16:creationId xmlns:a16="http://schemas.microsoft.com/office/drawing/2014/main" id="{9456AD05-D0D5-B566-5464-905D6E126C9B}"/>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39BB277-D677-7122-583C-E2DA058F670A}"/>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E1A5C2-1028-7EF7-EC88-4F04EC7380D2}"/>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B542C0C7-F574-E38A-4EB3-08F7967A55EF}"/>
              </a:ext>
            </a:extLst>
          </p:cNvPr>
          <p:cNvPicPr>
            <a:picLocks noChangeAspect="1"/>
          </p:cNvPicPr>
          <p:nvPr userDrawn="1"/>
        </p:nvPicPr>
        <p:blipFill>
          <a:blip r:embed="rId2"/>
          <a:stretch>
            <a:fillRect/>
          </a:stretch>
        </p:blipFill>
        <p:spPr>
          <a:xfrm>
            <a:off x="2585036" y="6478829"/>
            <a:ext cx="9326880" cy="118101"/>
          </a:xfrm>
          <a:prstGeom prst="rect">
            <a:avLst/>
          </a:prstGeom>
        </p:spPr>
      </p:pic>
      <p:sp>
        <p:nvSpPr>
          <p:cNvPr id="5" name="Slide Number Placeholder 5">
            <a:extLst>
              <a:ext uri="{FF2B5EF4-FFF2-40B4-BE49-F238E27FC236}">
                <a16:creationId xmlns:a16="http://schemas.microsoft.com/office/drawing/2014/main" id="{509D78DE-4DE3-2990-85E4-786FD52314B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82A8D337-520D-D86F-59BE-49A69B9FFC61}"/>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7" name="Group 6">
            <a:extLst>
              <a:ext uri="{FF2B5EF4-FFF2-40B4-BE49-F238E27FC236}">
                <a16:creationId xmlns:a16="http://schemas.microsoft.com/office/drawing/2014/main" id="{4674FC1A-E55F-C03B-647D-62C9D227489C}"/>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0AF77203-FB16-225E-E2AD-E6F5BFB29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59832108-B491-0ED9-0209-DCDB4B879444}"/>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27" name="TextBox 26">
            <a:extLst>
              <a:ext uri="{FF2B5EF4-FFF2-40B4-BE49-F238E27FC236}">
                <a16:creationId xmlns:a16="http://schemas.microsoft.com/office/drawing/2014/main" id="{BE3B44A9-629A-9AFC-6A18-1288714D7213}"/>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8" name="Date Placeholder 3">
            <a:extLst>
              <a:ext uri="{FF2B5EF4-FFF2-40B4-BE49-F238E27FC236}">
                <a16:creationId xmlns:a16="http://schemas.microsoft.com/office/drawing/2014/main" id="{47E8952C-C96D-E1CF-68EF-C321F55822F3}"/>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10/18/2026</a:t>
            </a:fld>
            <a:endParaRPr lang="en-US"/>
          </a:p>
        </p:txBody>
      </p:sp>
      <p:sp>
        <p:nvSpPr>
          <p:cNvPr id="29" name="Footer Placeholder 4">
            <a:extLst>
              <a:ext uri="{FF2B5EF4-FFF2-40B4-BE49-F238E27FC236}">
                <a16:creationId xmlns:a16="http://schemas.microsoft.com/office/drawing/2014/main" id="{A43BEA4F-EC22-DCD8-2D07-6E96C6A77DC4}"/>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15865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Pure">
    <p:spTree>
      <p:nvGrpSpPr>
        <p:cNvPr id="1" name=""/>
        <p:cNvGrpSpPr/>
        <p:nvPr/>
      </p:nvGrpSpPr>
      <p:grpSpPr>
        <a:xfrm>
          <a:off x="0" y="0"/>
          <a:ext cx="0" cy="0"/>
          <a:chOff x="0" y="0"/>
          <a:chExt cx="0" cy="0"/>
        </a:xfrm>
      </p:grpSpPr>
      <p:sp>
        <p:nvSpPr>
          <p:cNvPr id="16" name="Title 1"/>
          <p:cNvSpPr>
            <a:spLocks noGrp="1"/>
          </p:cNvSpPr>
          <p:nvPr userDrawn="1">
            <p:ph type="ctrTitle" hasCustomPrompt="1"/>
          </p:nvPr>
        </p:nvSpPr>
        <p:spPr>
          <a:xfrm>
            <a:off x="1443567" y="1773238"/>
            <a:ext cx="10029565" cy="1655762"/>
          </a:xfrm>
        </p:spPr>
        <p:txBody>
          <a:bodyPr anchor="b" anchorCtr="0">
            <a:noAutofit/>
          </a:bodyPr>
          <a:lstStyle>
            <a:lvl1pPr algn="l">
              <a:defRPr sz="4000" b="1" baseline="0">
                <a:solidFill>
                  <a:srgbClr val="1F5CA9"/>
                </a:solidFill>
                <a:latin typeface="K2D" panose="00000500000000000000" pitchFamily="2" charset="-34"/>
              </a:defRPr>
            </a:lvl1pPr>
          </a:lstStyle>
          <a:p>
            <a:r>
              <a:rPr lang="en-US"/>
              <a:t>Tiêu đề chính</a:t>
            </a:r>
            <a:endParaRPr lang="en-US" dirty="0"/>
          </a:p>
        </p:txBody>
      </p:sp>
      <p:sp>
        <p:nvSpPr>
          <p:cNvPr id="18" name="Subtitle 2"/>
          <p:cNvSpPr>
            <a:spLocks noGrp="1"/>
          </p:cNvSpPr>
          <p:nvPr userDrawn="1">
            <p:ph type="subTitle" idx="1" hasCustomPrompt="1"/>
          </p:nvPr>
        </p:nvSpPr>
        <p:spPr>
          <a:xfrm>
            <a:off x="1443566" y="3428999"/>
            <a:ext cx="10029565" cy="796491"/>
          </a:xfrm>
        </p:spPr>
        <p:txBody>
          <a:bodyPr anchor="t" anchorCtr="0">
            <a:normAutofit/>
          </a:bodyPr>
          <a:lstStyle>
            <a:lvl1pPr marL="0" indent="0" algn="l">
              <a:buNone/>
              <a:defRPr sz="3200" baseline="0">
                <a:solidFill>
                  <a:srgbClr val="00AFEF"/>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30" name="Picture 2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1466" y="2942152"/>
            <a:ext cx="292100" cy="292100"/>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23CFF9A2-77A5-DDEE-8CD5-81FBB071FF6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0E020D5-F981-3E97-FE5E-ADF3F5D5D67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E6F97B9-1D92-F527-C77C-03A8413842F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E461B76C-9BE8-353C-CE4F-D68CC621DEA4}"/>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BD53315-09D7-5756-C6C6-55FFDDCFE138}"/>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A79C1E-4CE5-9C79-D05A-E661FD9C1020}"/>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17A207F-A3E9-4918-9A39-6AFD5C75AE2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41CAD55-C718-D746-6C4B-AC27D7F9E3C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5652AF38-7C96-9660-E7DF-32022B504063}"/>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998B8E65-85EA-EDA7-0D26-FAB09CE576A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E6AC2544-66BB-6379-48DA-83F16247F12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69849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lue Background">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443567" y="1773238"/>
            <a:ext cx="10029565" cy="1655762"/>
          </a:xfrm>
        </p:spPr>
        <p:txBody>
          <a:bodyPr anchor="b" anchorCtr="0">
            <a:noAutofit/>
          </a:bodyPr>
          <a:lstStyle>
            <a:lvl1pPr algn="l">
              <a:defRPr sz="4000" b="1" baseline="0">
                <a:solidFill>
                  <a:schemeClr val="bg1"/>
                </a:solidFill>
                <a:latin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1443566" y="3428999"/>
            <a:ext cx="10029565" cy="796491"/>
          </a:xfrm>
        </p:spPr>
        <p:txBody>
          <a:bodyPr anchor="t" anchorCtr="0">
            <a:normAutofit/>
          </a:bodyPr>
          <a:lstStyle>
            <a:lvl1pPr marL="0" indent="0" algn="l">
              <a:buNone/>
              <a:defRPr sz="3200" baseline="0">
                <a:solidFill>
                  <a:schemeClr val="bg1"/>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066" y="2914650"/>
            <a:ext cx="364657" cy="364657"/>
          </a:xfrm>
          <a:prstGeom prst="rect">
            <a:avLst/>
          </a:prstGeom>
        </p:spPr>
      </p:pic>
      <p:grpSp>
        <p:nvGrpSpPr>
          <p:cNvPr id="2" name="Group 1">
            <a:extLst>
              <a:ext uri="{FF2B5EF4-FFF2-40B4-BE49-F238E27FC236}">
                <a16:creationId xmlns:a16="http://schemas.microsoft.com/office/drawing/2014/main" id="{D0407ADE-1691-B221-3DBE-A0668F67DFAD}"/>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D34C1E1A-F6EE-479B-62C5-AAA2AF44D763}"/>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CF4A6C1-BB6F-E2E1-2B44-FAD2A1B1382F}"/>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C836B12-C2E7-7458-8EEF-C0E54C0712FC}"/>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702B1A35-3625-44F2-B450-96259B3697C6}"/>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7" name="Slide Number Placeholder 5">
            <a:extLst>
              <a:ext uri="{FF2B5EF4-FFF2-40B4-BE49-F238E27FC236}">
                <a16:creationId xmlns:a16="http://schemas.microsoft.com/office/drawing/2014/main" id="{DE497A08-099F-1B3E-194B-4232B1D060A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8" name="Rectangle 7">
            <a:extLst>
              <a:ext uri="{FF2B5EF4-FFF2-40B4-BE49-F238E27FC236}">
                <a16:creationId xmlns:a16="http://schemas.microsoft.com/office/drawing/2014/main" id="{3D5BAB25-FCB5-FAAB-5765-8D4ACA9B26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9" name="Rectangle 8">
            <a:extLst>
              <a:ext uri="{FF2B5EF4-FFF2-40B4-BE49-F238E27FC236}">
                <a16:creationId xmlns:a16="http://schemas.microsoft.com/office/drawing/2014/main" id="{9B09F01B-7545-EE0B-CCDB-EA38604EB38F}"/>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0B09E43-1817-D52E-1B93-2D03B69FBBF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340A8E4-7C5F-7F57-1FD7-2B62EB3A0CA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1401AA1-7975-3594-DC27-3B15A19D2BF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786A1549-5E94-2A55-30E3-4C7A2D1E807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4" name="TextBox 13">
            <a:extLst>
              <a:ext uri="{FF2B5EF4-FFF2-40B4-BE49-F238E27FC236}">
                <a16:creationId xmlns:a16="http://schemas.microsoft.com/office/drawing/2014/main" id="{4698C5B0-03A7-5383-3EC8-3710BCD5581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2" name="Date Placeholder 3">
            <a:extLst>
              <a:ext uri="{FF2B5EF4-FFF2-40B4-BE49-F238E27FC236}">
                <a16:creationId xmlns:a16="http://schemas.microsoft.com/office/drawing/2014/main" id="{EE419B5B-7A9D-F950-9502-52863B417140}"/>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10/18/2026</a:t>
            </a:fld>
            <a:endParaRPr lang="en-US"/>
          </a:p>
        </p:txBody>
      </p:sp>
      <p:sp>
        <p:nvSpPr>
          <p:cNvPr id="23" name="Footer Placeholder 4">
            <a:extLst>
              <a:ext uri="{FF2B5EF4-FFF2-40B4-BE49-F238E27FC236}">
                <a16:creationId xmlns:a16="http://schemas.microsoft.com/office/drawing/2014/main" id="{04DAFEAD-AB29-262E-41C9-C3201759FA1A}"/>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05044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9DEB5E8B-9D80-CFB1-EDED-87ECE2CB2B8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85F6291E-292F-647B-E93F-CCF3BD97EF4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F972A86A-A3D6-70DE-0206-BB773A44427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AF733AF-6C3E-C1DE-BF08-4108C35CB05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CAB7700C-E55C-27FB-89BF-E9B044E9EC33}"/>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A9A2E08-C471-6D85-4D71-8B7583F204F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A08275F7-17A7-2357-D01F-B5A5E3884CF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BBC96F8B-987B-47C3-DC48-3B2EC5C98BF8}"/>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AB7A3534-0713-475D-C6A5-307770CE20B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7EB70784-4611-F5A4-7D58-DD378AF3F6A9}"/>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4" name="Footer Placeholder 4">
            <a:extLst>
              <a:ext uri="{FF2B5EF4-FFF2-40B4-BE49-F238E27FC236}">
                <a16:creationId xmlns:a16="http://schemas.microsoft.com/office/drawing/2014/main" id="{87628174-E628-DF34-7A10-83FDFC5D11E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94613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13" name="Picture 12">
            <a:extLst>
              <a:ext uri="{FF2B5EF4-FFF2-40B4-BE49-F238E27FC236}">
                <a16:creationId xmlns:a16="http://schemas.microsoft.com/office/drawing/2014/main" id="{16CEE1D6-0A80-8A7D-310B-2F6B434F47E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CC110D58-C7C9-AD78-555F-33E02058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AB81B152-BF7B-A150-5A99-2B451EC38D47}"/>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5D759768-9879-1B7A-B5FA-0DCEFE74D51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A3889155-4A4A-8DED-164F-8A56C00B8F9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5096035-4D5E-EF98-4374-6099861A66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8792706-2488-D26C-C54B-F6881C86D05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F36761B-1C8C-2A9C-97D2-FD722A844AE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EBA4366D-2C0B-5E27-DC28-A877427191A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82538E5B-E5A0-69DD-94F0-C506BC4743B8}"/>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709C7B13-13FD-9548-48BE-5821DF0AAE0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5" name="Footer Placeholder 4">
            <a:extLst>
              <a:ext uri="{FF2B5EF4-FFF2-40B4-BE49-F238E27FC236}">
                <a16:creationId xmlns:a16="http://schemas.microsoft.com/office/drawing/2014/main" id="{2283063C-B225-E607-FC11-4C67B227314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88158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Left - Placeholder Righ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B71F910-DD42-8802-386F-AA27E891E30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514350" y="1125114"/>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514348" y="2885650"/>
            <a:ext cx="4467229" cy="224454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 </a:t>
            </a:r>
            <a:endParaRPr lang="en-US" dirty="0"/>
          </a:p>
        </p:txBody>
      </p:sp>
      <p:sp>
        <p:nvSpPr>
          <p:cNvPr id="19" name="Content Placeholder 9"/>
          <p:cNvSpPr>
            <a:spLocks noGrp="1"/>
          </p:cNvSpPr>
          <p:nvPr userDrawn="1">
            <p:ph sz="quarter" idx="12" hasCustomPrompt="1"/>
          </p:nvPr>
        </p:nvSpPr>
        <p:spPr>
          <a:xfrm>
            <a:off x="5667375" y="1125114"/>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8E269295-E313-A799-7125-41D39E39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F4B895D-114D-C9C2-A547-220F39E95B3A}"/>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9B61B30F-7B6D-78FB-BD6E-E34AD607BE5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227F6DF5-10A9-DC42-E1E9-D1FA91D6BB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71959BFF-8A0A-B338-A74E-37D7F5CED4DF}"/>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AE9E1AD-2113-53D7-8783-10A60D93296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FE1424EB-91CE-59BF-400F-9BCF3A182E6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A299800F-88A1-1EF2-673A-E19EDD4D12A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2DFA7C85-7A63-3F94-A6E0-51FBFB0A621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39E5B1EA-BE1C-22C4-8140-1FF7F085C8B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23F5244F-399D-4048-0258-1C4D4345FF9B}"/>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419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ceholder Left - Title Right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36A66E2-7787-687B-3553-97FAF9109CAB}"/>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6737350" y="1332588"/>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6737348" y="3093124"/>
            <a:ext cx="4467229" cy="2192339"/>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9" name="Content Placeholder 9"/>
          <p:cNvSpPr>
            <a:spLocks noGrp="1"/>
          </p:cNvSpPr>
          <p:nvPr userDrawn="1">
            <p:ph sz="quarter" idx="12" hasCustomPrompt="1"/>
          </p:nvPr>
        </p:nvSpPr>
        <p:spPr>
          <a:xfrm>
            <a:off x="624706" y="1332588"/>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17" name="Picture 16"/>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D473B34E-C5A1-D7E2-C692-BFBE5EBD6A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C1CFE12-2689-2DB3-6CB8-E6D662CAE886}"/>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06B0CF2-5878-8045-7665-76673B4F71AB}"/>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46C447DE-39C2-0CF7-466F-6F936D0397D6}"/>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6BB166D7-5532-DFCC-4719-A557C504B8F3}"/>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B618045-F14E-9F31-0FA0-0532F46BF46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AF28839-2BBD-09C4-84D8-C7BD82D44B55}"/>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BCD9E80B-3CE1-773E-29BB-8B95E6D4543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ACA3E05-765A-20DC-76C7-1BB18527C022}"/>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D2971456-C6D4-0F38-6B9E-1F35DDA6E4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C3720CF9-36DD-EAE0-4DFF-B34E1D72560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4209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Picture Placeholder 2"/>
          <p:cNvSpPr>
            <a:spLocks noGrp="1"/>
          </p:cNvSpPr>
          <p:nvPr>
            <p:ph type="pic" sz="quarter" idx="12" hasCustomPrompt="1"/>
          </p:nvPr>
        </p:nvSpPr>
        <p:spPr>
          <a:xfrm>
            <a:off x="0" y="0"/>
            <a:ext cx="4787900" cy="6858000"/>
          </a:xfrm>
        </p:spPr>
        <p:txBody>
          <a:bodyPr anchor="ctr" anchorCtr="0"/>
          <a:lstStyle>
            <a:lvl1pPr marL="0" indent="0" algn="ctr">
              <a:buNone/>
              <a:defRPr/>
            </a:lvl1pPr>
          </a:lstStyle>
          <a:p>
            <a:r>
              <a:rPr lang="en-US"/>
              <a:t>Chèn ảnh</a:t>
            </a:r>
          </a:p>
        </p:txBody>
      </p:sp>
      <p:sp>
        <p:nvSpPr>
          <p:cNvPr id="16" name="Title 1"/>
          <p:cNvSpPr>
            <a:spLocks noGrp="1"/>
          </p:cNvSpPr>
          <p:nvPr>
            <p:ph type="ctrTitle" hasCustomPrompt="1"/>
          </p:nvPr>
        </p:nvSpPr>
        <p:spPr>
          <a:xfrm>
            <a:off x="5626100" y="1109534"/>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626098" y="2870070"/>
            <a:ext cx="5959480" cy="2502381"/>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7" name="Rectangle 16"/>
          <p:cNvSpPr/>
          <p:nvPr userDrawn="1"/>
        </p:nvSpPr>
        <p:spPr>
          <a:xfrm>
            <a:off x="4787899" y="0"/>
            <a:ext cx="116779" cy="685800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5106" y="241300"/>
            <a:ext cx="292100" cy="292100"/>
          </a:xfrm>
          <a:prstGeom prst="rect">
            <a:avLst/>
          </a:prstGeom>
        </p:spPr>
      </p:pic>
      <p:pic>
        <p:nvPicPr>
          <p:cNvPr id="22" name="Picture 21"/>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7666FBEF-96D4-A728-F979-1B9E3C58461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68E8E8DD-CE54-0055-2BF7-151D57DF8BD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D272301E-8D74-6168-3E37-23F22C232E8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1E1F16EF-BF90-0E2D-8C37-9F7F65B32C5A}"/>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24C6974A-DD6E-7CB5-8FD4-600450267DC0}"/>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56196367-A723-A537-EB98-81ACB69748F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E466BEA6-14C4-AF23-E4A2-9D451D536F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C8362F22-F1FE-F284-D164-71325E2FE29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C52A85AC-B7B7-482A-12B3-980D59815FD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BF6D7656-F800-D94D-225F-EDD31055092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3" name="Footer Placeholder 4">
            <a:extLst>
              <a:ext uri="{FF2B5EF4-FFF2-40B4-BE49-F238E27FC236}">
                <a16:creationId xmlns:a16="http://schemas.microsoft.com/office/drawing/2014/main" id="{7D4C748E-C498-F3D1-FA1A-8DE0452D33B4}"/>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5093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Left">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9E864A0-20A2-BDEB-4706-A5E83DDFA48B}"/>
              </a:ext>
            </a:extLst>
          </p:cNvPr>
          <p:cNvPicPr>
            <a:picLocks noChangeAspect="1"/>
          </p:cNvPicPr>
          <p:nvPr userDrawn="1"/>
        </p:nvPicPr>
        <p:blipFill>
          <a:blip r:embed="rId2">
            <a:duotone>
              <a:schemeClr val="bg2">
                <a:shade val="45000"/>
                <a:satMod val="135000"/>
              </a:schemeClr>
              <a:prstClr val="white"/>
            </a:duotone>
          </a:blip>
          <a:stretch>
            <a:fillRect/>
          </a:stretch>
        </p:blipFill>
        <p:spPr>
          <a:xfrm rot="2700000">
            <a:off x="781863" y="1310095"/>
            <a:ext cx="3916148" cy="3910374"/>
          </a:xfrm>
          <a:prstGeom prst="rect">
            <a:avLst/>
          </a:prstGeom>
        </p:spPr>
      </p:pic>
      <p:sp>
        <p:nvSpPr>
          <p:cNvPr id="16" name="Title 1"/>
          <p:cNvSpPr>
            <a:spLocks noGrp="1"/>
          </p:cNvSpPr>
          <p:nvPr>
            <p:ph type="ctrTitle" hasCustomPrompt="1"/>
          </p:nvPr>
        </p:nvSpPr>
        <p:spPr>
          <a:xfrm>
            <a:off x="5575300" y="769938"/>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575298" y="2530474"/>
            <a:ext cx="5959480" cy="3550350"/>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22" name="Picture 21"/>
          <p:cNvPicPr>
            <a:picLocks noChangeAspect="1"/>
          </p:cNvPicPr>
          <p:nvPr userDrawn="1"/>
        </p:nvPicPr>
        <p:blipFill>
          <a:blip r:embed="rId2"/>
          <a:stretch>
            <a:fillRect/>
          </a:stretch>
        </p:blipFill>
        <p:spPr>
          <a:xfrm>
            <a:off x="11987783" y="93587"/>
            <a:ext cx="107165" cy="107007"/>
          </a:xfrm>
          <a:prstGeom prst="rect">
            <a:avLst/>
          </a:prstGeom>
        </p:spPr>
      </p:pic>
      <p:sp>
        <p:nvSpPr>
          <p:cNvPr id="23" name="Picture Placeholder 22">
            <a:extLst>
              <a:ext uri="{FF2B5EF4-FFF2-40B4-BE49-F238E27FC236}">
                <a16:creationId xmlns:a16="http://schemas.microsoft.com/office/drawing/2014/main" id="{8A90EEE0-CD8C-2ACB-25F9-50BB8997F9B6}"/>
              </a:ext>
            </a:extLst>
          </p:cNvPr>
          <p:cNvSpPr>
            <a:spLocks noGrp="1"/>
          </p:cNvSpPr>
          <p:nvPr>
            <p:ph type="pic" sz="quarter" idx="12" hasCustomPrompt="1"/>
          </p:nvPr>
        </p:nvSpPr>
        <p:spPr>
          <a:xfrm>
            <a:off x="438976" y="127568"/>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4" name="Picture Placeholder 22">
            <a:extLst>
              <a:ext uri="{FF2B5EF4-FFF2-40B4-BE49-F238E27FC236}">
                <a16:creationId xmlns:a16="http://schemas.microsoft.com/office/drawing/2014/main" id="{DDDAF3A5-8C80-403E-4204-D45A798228F3}"/>
              </a:ext>
            </a:extLst>
          </p:cNvPr>
          <p:cNvSpPr>
            <a:spLocks noGrp="1"/>
          </p:cNvSpPr>
          <p:nvPr>
            <p:ph type="pic" sz="quarter" idx="13" hasCustomPrompt="1"/>
          </p:nvPr>
        </p:nvSpPr>
        <p:spPr>
          <a:xfrm>
            <a:off x="438976" y="3365543"/>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5" name="Picture Placeholder 22">
            <a:extLst>
              <a:ext uri="{FF2B5EF4-FFF2-40B4-BE49-F238E27FC236}">
                <a16:creationId xmlns:a16="http://schemas.microsoft.com/office/drawing/2014/main" id="{1442A5B8-CFC4-5FD2-2AD5-A6E2BE31C3D6}"/>
              </a:ext>
            </a:extLst>
          </p:cNvPr>
          <p:cNvSpPr>
            <a:spLocks noGrp="1"/>
          </p:cNvSpPr>
          <p:nvPr>
            <p:ph type="pic" sz="quarter" idx="14" hasCustomPrompt="1"/>
          </p:nvPr>
        </p:nvSpPr>
        <p:spPr>
          <a:xfrm>
            <a:off x="2032811" y="1752381"/>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pic>
        <p:nvPicPr>
          <p:cNvPr id="26" name="Picture 25">
            <a:extLst>
              <a:ext uri="{FF2B5EF4-FFF2-40B4-BE49-F238E27FC236}">
                <a16:creationId xmlns:a16="http://schemas.microsoft.com/office/drawing/2014/main" id="{18BE5A7E-5F20-6A38-5D19-14DA476864C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776" y="2393663"/>
            <a:ext cx="1716960" cy="1717475"/>
          </a:xfrm>
          <a:prstGeom prst="rect">
            <a:avLst/>
          </a:prstGeom>
        </p:spPr>
      </p:pic>
      <p:sp>
        <p:nvSpPr>
          <p:cNvPr id="2" name="Slide Number Placeholder 5">
            <a:extLst>
              <a:ext uri="{FF2B5EF4-FFF2-40B4-BE49-F238E27FC236}">
                <a16:creationId xmlns:a16="http://schemas.microsoft.com/office/drawing/2014/main" id="{09D97C13-D91F-4682-B432-81FF1B14B49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2684DFD5-27A7-C363-7007-2DC193A3EAF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8316999E-E9FF-973E-7101-9B1C4199764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766026A7-B4F0-EAA7-6E24-26FFBCA763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8FF0E9D6-6802-7688-2B57-6C08D5DA59C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6E658449-E3D8-FD81-A0DE-693514AECD38}"/>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3B45509-564D-FF36-7D23-E19C5706B85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034F2291-6314-C1AD-04AC-4C2F36AFBCE5}"/>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60D81222-A6F3-0F0F-54F8-3440A58FEE7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15F7985F-5BDC-B2DF-EE61-A86912B6894F}"/>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3F3C7577-EE0C-2234-C1BF-DA9C643EE26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541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 Left">
    <p:spTree>
      <p:nvGrpSpPr>
        <p:cNvPr id="1" name=""/>
        <p:cNvGrpSpPr/>
        <p:nvPr/>
      </p:nvGrpSpPr>
      <p:grpSpPr>
        <a:xfrm>
          <a:off x="0" y="0"/>
          <a:ext cx="0" cy="0"/>
          <a:chOff x="0" y="0"/>
          <a:chExt cx="0" cy="0"/>
        </a:xfrm>
      </p:grpSpPr>
      <p:grpSp>
        <p:nvGrpSpPr>
          <p:cNvPr id="15" name="Group 14"/>
          <p:cNvGrpSpPr/>
          <p:nvPr userDrawn="1"/>
        </p:nvGrpSpPr>
        <p:grpSpPr>
          <a:xfrm>
            <a:off x="170156" y="134614"/>
            <a:ext cx="3918888" cy="6192390"/>
            <a:chOff x="125766" y="134614"/>
            <a:chExt cx="3918888" cy="6192390"/>
          </a:xfrm>
        </p:grpSpPr>
        <p:sp>
          <p:nvSpPr>
            <p:cNvPr id="16" name="Rectangle 15"/>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Rectangle 16"/>
            <p:cNvSpPr/>
            <p:nvPr userDrawn="1"/>
          </p:nvSpPr>
          <p:spPr>
            <a:xfrm>
              <a:off x="125766" y="134614"/>
              <a:ext cx="3918888" cy="5488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423332" y="2190750"/>
            <a:ext cx="3335867" cy="3761528"/>
          </a:xfrm>
        </p:spPr>
        <p:txBody>
          <a:bodyPr>
            <a:normAutofit/>
          </a:bodyPr>
          <a:lstStyle>
            <a:lvl1pPr marL="0" indent="0" algn="l">
              <a:lnSpc>
                <a:spcPct val="10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423333" y="481807"/>
            <a:ext cx="3335866" cy="1570038"/>
          </a:xfrm>
        </p:spPr>
        <p:txBody>
          <a:bodyPr anchor="b" anchorCtr="0">
            <a:noAutofit/>
          </a:bodyPr>
          <a:lstStyle>
            <a:lvl1pPr algn="l">
              <a:defRPr sz="2800" b="1">
                <a:solidFill>
                  <a:schemeClr val="bg1"/>
                </a:solidFill>
                <a:latin typeface="K2D" panose="00000500000000000000" pitchFamily="2" charset="-34"/>
              </a:defRPr>
            </a:lvl1pPr>
          </a:lstStyle>
          <a:p>
            <a:r>
              <a:rPr lang="en-US"/>
              <a:t>Tiêu đề</a:t>
            </a:r>
            <a:endParaRPr lang="en-US" dirty="0"/>
          </a:p>
        </p:txBody>
      </p:sp>
      <p:sp>
        <p:nvSpPr>
          <p:cNvPr id="10" name="Content Placeholder 9"/>
          <p:cNvSpPr>
            <a:spLocks noGrp="1"/>
          </p:cNvSpPr>
          <p:nvPr>
            <p:ph sz="quarter" idx="12" hasCustomPrompt="1"/>
          </p:nvPr>
        </p:nvSpPr>
        <p:spPr>
          <a:xfrm>
            <a:off x="4210050" y="1233577"/>
            <a:ext cx="7685088" cy="4882552"/>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57565" y="285479"/>
            <a:ext cx="457200" cy="457200"/>
          </a:xfrm>
          <a:prstGeom prst="rect">
            <a:avLst/>
          </a:prstGeom>
        </p:spPr>
      </p:pic>
      <p:pic>
        <p:nvPicPr>
          <p:cNvPr id="23" name="Picture 22"/>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555DA46C-D8B6-7CFC-66B8-7CB0661BDC5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C520D40A-2E3B-C7A9-C896-AB297CD1D502}"/>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90772D73-D33F-3CF1-F2EC-3AB49AB0A3E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3B7BB71-C74C-F574-53FD-686AF1FFDDB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D2F3CACD-6A80-FFA4-A1A8-D43F712955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FAEB09F-CD5E-7ADC-1B2F-8965E3D7128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1" name="TextBox 10">
              <a:extLst>
                <a:ext uri="{FF2B5EF4-FFF2-40B4-BE49-F238E27FC236}">
                  <a16:creationId xmlns:a16="http://schemas.microsoft.com/office/drawing/2014/main" id="{D6F64E0D-6262-6968-C324-91B0C29DAE2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2" name="TextBox 11">
            <a:extLst>
              <a:ext uri="{FF2B5EF4-FFF2-40B4-BE49-F238E27FC236}">
                <a16:creationId xmlns:a16="http://schemas.microsoft.com/office/drawing/2014/main" id="{46ACF565-7282-52D8-2F87-9979EB7D22E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3" name="Picture 12">
            <a:extLst>
              <a:ext uri="{FF2B5EF4-FFF2-40B4-BE49-F238E27FC236}">
                <a16:creationId xmlns:a16="http://schemas.microsoft.com/office/drawing/2014/main" id="{F5EB52C3-46A3-8597-EB48-A059B972B6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F417CD2D-3662-2AA5-03DA-B7DB71FD4D1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8" name="Footer Placeholder 4">
            <a:extLst>
              <a:ext uri="{FF2B5EF4-FFF2-40B4-BE49-F238E27FC236}">
                <a16:creationId xmlns:a16="http://schemas.microsoft.com/office/drawing/2014/main" id="{176764BE-F724-71A0-BE05-2D8CD35F4D5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75906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Top">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134613"/>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6191250" y="465934"/>
            <a:ext cx="5229225" cy="1634339"/>
          </a:xfrm>
        </p:spPr>
        <p:txBody>
          <a:bodyPr wrap="square">
            <a:no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24705" y="3223632"/>
            <a:ext cx="4928369"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25089" y="438150"/>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24706" y="3062972"/>
            <a:ext cx="4927984"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9DE2B706-8307-6ED5-F877-389B0B297961}"/>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7069466" y="2644402"/>
            <a:ext cx="3453753" cy="3402396"/>
          </a:xfrm>
          <a:prstGeom prst="rect">
            <a:avLst/>
          </a:prstGeom>
        </p:spPr>
      </p:pic>
      <p:pic>
        <p:nvPicPr>
          <p:cNvPr id="37" name="Picture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3815" y="2177429"/>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A5B4C324-3C81-EE05-863B-0BFD10068AD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7CC62863-B89C-435F-F151-714E85DDC0D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54D858D0-591A-DB7C-B0CF-EC5885EF6AA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1B9E2AA-8C7B-B434-371B-D07F8E42BC7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E048CFE-B19B-7653-369A-1274DDC6A672}"/>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8B54DA6-059E-42E3-D2C2-7CC236D17F7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B478C257-C905-714F-8D36-7C4FEA7B101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7171E3B6-9344-8EA5-ECCC-B4E2DB489CB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EB4D2815-B553-E7E3-A420-642D631F8509}"/>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43C1B86-79CD-A2B3-901F-0E811E86B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7" name="Footer Placeholder 4">
            <a:extLst>
              <a:ext uri="{FF2B5EF4-FFF2-40B4-BE49-F238E27FC236}">
                <a16:creationId xmlns:a16="http://schemas.microsoft.com/office/drawing/2014/main" id="{01990695-EF78-6AB0-E960-0608F2EFCBD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232255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Bottom">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3979538"/>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741485" y="4229011"/>
            <a:ext cx="5229225" cy="1634339"/>
          </a:xfrm>
        </p:spPr>
        <p:txBody>
          <a:bodyPr>
            <a:norm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569891" y="811935"/>
            <a:ext cx="5229225"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720704" y="2860675"/>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720704" y="2772120"/>
            <a:ext cx="4928369"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2CD997C6-547B-2702-8F85-89942F1AB17D}"/>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1183842" y="373388"/>
            <a:ext cx="3453753" cy="3402396"/>
          </a:xfrm>
          <a:prstGeom prst="rect">
            <a:avLst/>
          </a:prstGeom>
        </p:spPr>
      </p:pic>
      <p:pic>
        <p:nvPicPr>
          <p:cNvPr id="36" name="Picture 3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222467" y="3759764"/>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4AF876A1-6B11-6FF8-2D84-015F96056B1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29CA6408-9D66-09C4-41AB-00CC1729D3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1E0018DF-49AD-91F7-0DB0-C9BC1261979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A0C13370-E7EC-678E-BD5A-DB77AAE1330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84E15444-C65B-BCB2-0C08-2D44E08572B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552101A3-77ED-E52F-5EB8-690B6987C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97794B63-DFC9-1FBB-688F-B4BDE18353A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3970B167-68C8-83AC-0439-E32E52CA290E}"/>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D62CD55A-1C1C-F2FF-326E-E4EDF096096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2106D705-167D-4957-B052-389F58C3C7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7" name="Footer Placeholder 4">
            <a:extLst>
              <a:ext uri="{FF2B5EF4-FFF2-40B4-BE49-F238E27FC236}">
                <a16:creationId xmlns:a16="http://schemas.microsoft.com/office/drawing/2014/main" id="{4B50CB5C-9421-8092-B746-31E9C2FB314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2394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ser Information">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2580549"/>
            <a:ext cx="12192000" cy="107901"/>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3" name="Subtitle 2"/>
          <p:cNvSpPr>
            <a:spLocks noGrp="1"/>
          </p:cNvSpPr>
          <p:nvPr>
            <p:ph type="subTitle" idx="1" hasCustomPrompt="1"/>
          </p:nvPr>
        </p:nvSpPr>
        <p:spPr>
          <a:xfrm>
            <a:off x="3501972" y="3856819"/>
            <a:ext cx="7445428" cy="2304603"/>
          </a:xfrm>
        </p:spPr>
        <p:txBody>
          <a:bodyPr>
            <a:normAutofit/>
          </a:bodyPr>
          <a:lstStyle>
            <a:lvl1pPr marL="0" indent="0" algn="l">
              <a:lnSpc>
                <a:spcPct val="100000"/>
              </a:lnSpc>
              <a:buNone/>
              <a:defRPr sz="1600" b="0" i="0">
                <a:solidFill>
                  <a:srgbClr val="00000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Các thông tin cá nhân có liên quan</a:t>
            </a:r>
            <a:endParaRPr lang="en-US" dirty="0"/>
          </a:p>
        </p:txBody>
      </p:sp>
      <p:sp>
        <p:nvSpPr>
          <p:cNvPr id="2" name="Title 1"/>
          <p:cNvSpPr>
            <a:spLocks noGrp="1"/>
          </p:cNvSpPr>
          <p:nvPr>
            <p:ph type="ctrTitle" hasCustomPrompt="1"/>
          </p:nvPr>
        </p:nvSpPr>
        <p:spPr>
          <a:xfrm>
            <a:off x="3503437" y="2747660"/>
            <a:ext cx="7443963" cy="904404"/>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Nhấn vào để chỉnh sửa tên</a:t>
            </a:r>
            <a:endParaRPr lang="en-US" dirty="0"/>
          </a:p>
        </p:txBody>
      </p:sp>
      <p:sp>
        <p:nvSpPr>
          <p:cNvPr id="10" name="Picture Placeholder 9"/>
          <p:cNvSpPr>
            <a:spLocks noGrp="1"/>
          </p:cNvSpPr>
          <p:nvPr>
            <p:ph type="pic" sz="quarter" idx="13" hasCustomPrompt="1"/>
          </p:nvPr>
        </p:nvSpPr>
        <p:spPr>
          <a:xfrm>
            <a:off x="0" y="0"/>
            <a:ext cx="12192000" cy="2584938"/>
          </a:xfrm>
          <a:solidFill>
            <a:schemeClr val="bg1">
              <a:lumMod val="95000"/>
            </a:schemeClr>
          </a:solidFill>
        </p:spPr>
        <p:txBody>
          <a:bodyPr anchor="ctr" anchorCtr="0"/>
          <a:lstStyle>
            <a:lvl1pPr marL="0" indent="0" algn="ctr">
              <a:buNone/>
              <a:defRPr/>
            </a:lvl1pPr>
          </a:lstStyle>
          <a:p>
            <a:r>
              <a:rPr lang="en-US"/>
              <a:t>Ảnh bìa</a:t>
            </a:r>
          </a:p>
        </p:txBody>
      </p:sp>
      <p:sp>
        <p:nvSpPr>
          <p:cNvPr id="9" name="Picture Placeholder 8"/>
          <p:cNvSpPr>
            <a:spLocks noGrp="1"/>
          </p:cNvSpPr>
          <p:nvPr>
            <p:ph type="pic" sz="quarter" idx="12" hasCustomPrompt="1"/>
          </p:nvPr>
        </p:nvSpPr>
        <p:spPr>
          <a:xfrm>
            <a:off x="664144" y="1144291"/>
            <a:ext cx="2601302" cy="2606040"/>
          </a:xfrm>
          <a:prstGeom prst="ellipse">
            <a:avLst/>
          </a:prstGeom>
          <a:solidFill>
            <a:schemeClr val="bg1">
              <a:lumMod val="95000"/>
            </a:schemeClr>
          </a:solidFill>
          <a:ln w="38100">
            <a:solidFill>
              <a:schemeClr val="bg1"/>
            </a:solidFill>
            <a:miter lim="800000"/>
          </a:ln>
        </p:spPr>
        <p:txBody>
          <a:bodyPr anchor="ctr" anchorCtr="0"/>
          <a:lstStyle>
            <a:lvl1pPr marL="0" indent="0" algn="ctr">
              <a:buNone/>
              <a:defRPr/>
            </a:lvl1pPr>
          </a:lstStyle>
          <a:p>
            <a:r>
              <a:rPr lang="en-US"/>
              <a:t>Avatar</a:t>
            </a:r>
          </a:p>
        </p:txBody>
      </p:sp>
      <p:sp>
        <p:nvSpPr>
          <p:cNvPr id="19" name="Rectangle 18"/>
          <p:cNvSpPr/>
          <p:nvPr userDrawn="1"/>
        </p:nvSpPr>
        <p:spPr>
          <a:xfrm>
            <a:off x="3631224" y="3726827"/>
            <a:ext cx="1820007" cy="45719"/>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2" name="Picture Placeholder 11"/>
          <p:cNvSpPr>
            <a:spLocks noGrp="1"/>
          </p:cNvSpPr>
          <p:nvPr>
            <p:ph type="pic" sz="quarter" idx="14" hasCustomPrompt="1"/>
          </p:nvPr>
        </p:nvSpPr>
        <p:spPr>
          <a:xfrm>
            <a:off x="10348756" y="4679980"/>
            <a:ext cx="1574800" cy="1589422"/>
          </a:xfrm>
        </p:spPr>
        <p:txBody>
          <a:bodyPr anchor="ctr" anchorCtr="1"/>
          <a:lstStyle>
            <a:lvl1pPr marL="0" indent="0">
              <a:buNone/>
              <a:defRPr baseline="0">
                <a:latin typeface="K2D" panose="00000500000000000000" pitchFamily="2" charset="-34"/>
              </a:defRPr>
            </a:lvl1pPr>
          </a:lstStyle>
          <a:p>
            <a:r>
              <a:rPr lang="en-US"/>
              <a:t>Mã QR</a:t>
            </a:r>
          </a:p>
        </p:txBody>
      </p:sp>
      <p:pic>
        <p:nvPicPr>
          <p:cNvPr id="21" name="Picture 20">
            <a:extLst>
              <a:ext uri="{FF2B5EF4-FFF2-40B4-BE49-F238E27FC236}">
                <a16:creationId xmlns:a16="http://schemas.microsoft.com/office/drawing/2014/main" id="{A8399B61-C397-6E24-154B-55AEE91F31FA}"/>
              </a:ext>
            </a:extLst>
          </p:cNvPr>
          <p:cNvPicPr>
            <a:picLocks noChangeAspect="1"/>
          </p:cNvPicPr>
          <p:nvPr userDrawn="1"/>
        </p:nvPicPr>
        <p:blipFill>
          <a:blip r:embed="rId2" cstate="print">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839319" y="3749686"/>
            <a:ext cx="2513362" cy="2475989"/>
          </a:xfrm>
          <a:prstGeom prst="rect">
            <a:avLst/>
          </a:prstGeom>
        </p:spPr>
      </p:pic>
      <p:pic>
        <p:nvPicPr>
          <p:cNvPr id="35" name="Picture 3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09872" y="3047462"/>
            <a:ext cx="292100" cy="292100"/>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78885C0-D685-8BA1-0334-F39B9B68D71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DF714-887C-B1B4-0544-F3318FB936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245B2670-DCDB-9912-43A9-DB6F7732594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10719D13-9667-D80B-8E63-2EAE238785E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6D5820E4-D785-554F-4A26-439F94DC39CB}"/>
              </a:ext>
            </a:extLst>
          </p:cNvPr>
          <p:cNvGrpSpPr/>
          <p:nvPr userDrawn="1"/>
        </p:nvGrpSpPr>
        <p:grpSpPr>
          <a:xfrm>
            <a:off x="817685" y="6410864"/>
            <a:ext cx="2760487" cy="403790"/>
            <a:chOff x="741485" y="6410864"/>
            <a:chExt cx="2760487" cy="403790"/>
          </a:xfrm>
        </p:grpSpPr>
        <p:sp>
          <p:nvSpPr>
            <p:cNvPr id="11" name="TextBox 10">
              <a:extLst>
                <a:ext uri="{FF2B5EF4-FFF2-40B4-BE49-F238E27FC236}">
                  <a16:creationId xmlns:a16="http://schemas.microsoft.com/office/drawing/2014/main" id="{72173FE2-FAF0-8CC7-CB52-0A02CAB31B9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EAC9A41C-6FE6-99FD-63A0-4F13214472F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AE355810-09A4-7711-CAE0-3B52F9B0F7A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7CFD61F0-56D5-64BF-42C1-A40A09A1EC80}"/>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D9E8BE1-8359-B3EB-76B9-E21898BB1182}"/>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7" name="Footer Placeholder 4">
            <a:extLst>
              <a:ext uri="{FF2B5EF4-FFF2-40B4-BE49-F238E27FC236}">
                <a16:creationId xmlns:a16="http://schemas.microsoft.com/office/drawing/2014/main" id="{D8313AA7-7AE7-BBBB-D161-E7992A58C09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68550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6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sp>
        <p:nvSpPr>
          <p:cNvPr id="3" name="Text Placeholder 2"/>
          <p:cNvSpPr>
            <a:spLocks noGrp="1"/>
          </p:cNvSpPr>
          <p:nvPr>
            <p:ph type="body" idx="1" hasCustomPrompt="1"/>
          </p:nvPr>
        </p:nvSpPr>
        <p:spPr>
          <a:xfrm>
            <a:off x="839789"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1</a:t>
            </a:r>
            <a:endParaRPr lang="en-US" dirty="0"/>
          </a:p>
        </p:txBody>
      </p:sp>
      <p:sp>
        <p:nvSpPr>
          <p:cNvPr id="15" name="Content Placeholder 9"/>
          <p:cNvSpPr>
            <a:spLocks noGrp="1"/>
          </p:cNvSpPr>
          <p:nvPr>
            <p:ph sz="quarter" idx="12" hasCustomPrompt="1"/>
          </p:nvPr>
        </p:nvSpPr>
        <p:spPr>
          <a:xfrm>
            <a:off x="839788"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sp>
        <p:nvSpPr>
          <p:cNvPr id="22" name="Text Placeholder 2"/>
          <p:cNvSpPr>
            <a:spLocks noGrp="1"/>
          </p:cNvSpPr>
          <p:nvPr>
            <p:ph type="body" idx="13" hasCustomPrompt="1"/>
          </p:nvPr>
        </p:nvSpPr>
        <p:spPr>
          <a:xfrm>
            <a:off x="6308727"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2</a:t>
            </a:r>
            <a:endParaRPr lang="en-US" dirty="0"/>
          </a:p>
        </p:txBody>
      </p:sp>
      <p:sp>
        <p:nvSpPr>
          <p:cNvPr id="23" name="Content Placeholder 9"/>
          <p:cNvSpPr>
            <a:spLocks noGrp="1"/>
          </p:cNvSpPr>
          <p:nvPr>
            <p:ph sz="quarter" idx="14" hasCustomPrompt="1"/>
          </p:nvPr>
        </p:nvSpPr>
        <p:spPr>
          <a:xfrm>
            <a:off x="6308726"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5" name="Picture 24"/>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A9BD5AE-860A-11DA-EDCF-22268C7C9A8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50682-E7A5-4FC0-F3BE-BB9A232438A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B29D63CC-5B2D-403A-2D8D-77E5D2B6108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DE5D36C9-D247-9D20-3BF2-F3349DFE29EF}"/>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B63E65D7-4824-ED09-532B-9FC7698CEF88}"/>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D6AB20A-6E3F-4D3A-66A0-FB26AD4A104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54847801-603B-FBC5-F985-AE9459E3CD4E}"/>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C8F14B01-E23B-BFC7-B317-7E21D60D518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B56432E-6829-4DE3-60A2-6B8BBDC6B4B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187C7D7A-D6B4-F348-B4E4-CA33AB53AD58}"/>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4" name="Footer Placeholder 4">
            <a:extLst>
              <a:ext uri="{FF2B5EF4-FFF2-40B4-BE49-F238E27FC236}">
                <a16:creationId xmlns:a16="http://schemas.microsoft.com/office/drawing/2014/main" id="{19648BD2-EBDF-9F5F-296A-DFCA3F0BF82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66946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a:xfrm>
            <a:off x="741487" y="465301"/>
            <a:ext cx="3657600" cy="2743200"/>
          </a:xfrm>
          <a:ln w="57150">
            <a:solidFill>
              <a:schemeClr val="bg1">
                <a:lumMod val="95000"/>
              </a:schemeClr>
            </a:solidFill>
            <a:miter lim="800000"/>
          </a:ln>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400" b="0" i="0" kern="1200" baseline="0" dirty="0">
                <a:solidFill>
                  <a:schemeClr val="tx1"/>
                </a:solidFill>
                <a:latin typeface="Readex Pro" pitchFamily="2" charset="-78"/>
                <a:ea typeface="+mn-ea"/>
                <a:cs typeface="Readex Pro" pitchFamily="2" charset="-78"/>
              </a:defRPr>
            </a:lvl1pPr>
          </a:lstStyle>
          <a:p>
            <a:r>
              <a:rPr lang="en-US"/>
              <a:t>Chèn ảnh</a:t>
            </a:r>
            <a:endParaRPr lang="en-US" dirty="0"/>
          </a:p>
        </p:txBody>
      </p:sp>
      <p:sp>
        <p:nvSpPr>
          <p:cNvPr id="17" name="Picture Placeholder 4"/>
          <p:cNvSpPr>
            <a:spLocks noGrp="1"/>
          </p:cNvSpPr>
          <p:nvPr>
            <p:ph type="pic" sz="quarter" idx="12" hasCustomPrompt="1"/>
          </p:nvPr>
        </p:nvSpPr>
        <p:spPr>
          <a:xfrm>
            <a:off x="4678998" y="465301"/>
            <a:ext cx="3571623"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18" name="Picture Placeholder 5"/>
          <p:cNvSpPr>
            <a:spLocks noGrp="1"/>
          </p:cNvSpPr>
          <p:nvPr>
            <p:ph type="pic" sz="quarter" idx="15" hasCustomPrompt="1"/>
          </p:nvPr>
        </p:nvSpPr>
        <p:spPr>
          <a:xfrm>
            <a:off x="8530533" y="474155"/>
            <a:ext cx="27432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0" name="Picture Placeholder 7"/>
          <p:cNvSpPr>
            <a:spLocks noGrp="1"/>
          </p:cNvSpPr>
          <p:nvPr>
            <p:ph type="pic" sz="quarter" idx="14" hasCustomPrompt="1"/>
          </p:nvPr>
        </p:nvSpPr>
        <p:spPr>
          <a:xfrm>
            <a:off x="7484734" y="3450874"/>
            <a:ext cx="3788999"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1" name="Picture Placeholder 8"/>
          <p:cNvSpPr>
            <a:spLocks noGrp="1"/>
          </p:cNvSpPr>
          <p:nvPr>
            <p:ph type="pic" sz="quarter" idx="16" hasCustomPrompt="1"/>
          </p:nvPr>
        </p:nvSpPr>
        <p:spPr>
          <a:xfrm>
            <a:off x="741485" y="3450874"/>
            <a:ext cx="64770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pic>
        <p:nvPicPr>
          <p:cNvPr id="19" name="Picture 1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31D2F5E-B4B4-4F13-5B40-6B34D4077BF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E28C786-22D7-B802-E1CD-F76CACF14CCC}"/>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747DAB2-9527-687A-8677-8F0D90CD784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00F80466-9EFF-A73A-B6DE-D269BCE066A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A43337E1-C74F-3AB9-3062-C33D866163B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812D348-DF45-A829-E72D-196DEC172D7E}"/>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DA8F8196-C024-0B7C-46F7-739B24E5DBF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A860906-4DB7-35A0-12A0-880FE34D0611}"/>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FAD6CDF9-3E97-FB61-7CE7-3D09FA86D7A3}"/>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6218C02C-39DB-9A5F-95CB-0C3CAB08327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3" name="Footer Placeholder 4">
            <a:extLst>
              <a:ext uri="{FF2B5EF4-FFF2-40B4-BE49-F238E27FC236}">
                <a16:creationId xmlns:a16="http://schemas.microsoft.com/office/drawing/2014/main" id="{14506B3F-1DF2-A2B1-B917-52BD9BA9F29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55697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Effect transition="in" filter="fade">
                                      <p:cBhvr>
                                        <p:cTn id="9" dur="100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1000" fill="hold"/>
                                        <p:tgtEl>
                                          <p:spTgt spid="17"/>
                                        </p:tgtEl>
                                        <p:attrNameLst>
                                          <p:attrName>ppt_w</p:attrName>
                                        </p:attrNameLst>
                                      </p:cBhvr>
                                      <p:tavLst>
                                        <p:tav tm="0">
                                          <p:val>
                                            <p:fltVal val="0"/>
                                          </p:val>
                                        </p:tav>
                                        <p:tav tm="100000">
                                          <p:val>
                                            <p:strVal val="#ppt_w"/>
                                          </p:val>
                                        </p:tav>
                                      </p:tavLst>
                                    </p:anim>
                                    <p:anim calcmode="lin" valueType="num">
                                      <p:cBhvr>
                                        <p:cTn id="13" dur="1000" fill="hold"/>
                                        <p:tgtEl>
                                          <p:spTgt spid="17"/>
                                        </p:tgtEl>
                                        <p:attrNameLst>
                                          <p:attrName>ppt_h</p:attrName>
                                        </p:attrNameLst>
                                      </p:cBhvr>
                                      <p:tavLst>
                                        <p:tav tm="0">
                                          <p:val>
                                            <p:fltVal val="0"/>
                                          </p:val>
                                        </p:tav>
                                        <p:tav tm="100000">
                                          <p:val>
                                            <p:strVal val="#ppt_h"/>
                                          </p:val>
                                        </p:tav>
                                      </p:tavLst>
                                    </p:anim>
                                    <p:animEffect transition="in" filter="fade">
                                      <p:cBhvr>
                                        <p:cTn id="14" dur="1000"/>
                                        <p:tgtEl>
                                          <p:spTgt spid="17"/>
                                        </p:tgtEl>
                                      </p:cBhvr>
                                    </p:animEffect>
                                  </p:childTnLst>
                                </p:cTn>
                              </p:par>
                              <p:par>
                                <p:cTn id="15" presetID="53" presetClass="entr" presetSubtype="16"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1000" fill="hold"/>
                                        <p:tgtEl>
                                          <p:spTgt spid="18"/>
                                        </p:tgtEl>
                                        <p:attrNameLst>
                                          <p:attrName>ppt_w</p:attrName>
                                        </p:attrNameLst>
                                      </p:cBhvr>
                                      <p:tavLst>
                                        <p:tav tm="0">
                                          <p:val>
                                            <p:fltVal val="0"/>
                                          </p:val>
                                        </p:tav>
                                        <p:tav tm="100000">
                                          <p:val>
                                            <p:strVal val="#ppt_w"/>
                                          </p:val>
                                        </p:tav>
                                      </p:tavLst>
                                    </p:anim>
                                    <p:anim calcmode="lin" valueType="num">
                                      <p:cBhvr>
                                        <p:cTn id="18" dur="1000" fill="hold"/>
                                        <p:tgtEl>
                                          <p:spTgt spid="18"/>
                                        </p:tgtEl>
                                        <p:attrNameLst>
                                          <p:attrName>ppt_h</p:attrName>
                                        </p:attrNameLst>
                                      </p:cBhvr>
                                      <p:tavLst>
                                        <p:tav tm="0">
                                          <p:val>
                                            <p:fltVal val="0"/>
                                          </p:val>
                                        </p:tav>
                                        <p:tav tm="100000">
                                          <p:val>
                                            <p:strVal val="#ppt_h"/>
                                          </p:val>
                                        </p:tav>
                                      </p:tavLst>
                                    </p:anim>
                                    <p:animEffect transition="in" filter="fade">
                                      <p:cBhvr>
                                        <p:cTn id="19" dur="1000"/>
                                        <p:tgtEl>
                                          <p:spTgt spid="18"/>
                                        </p:tgtEl>
                                      </p:cBhvr>
                                    </p:animEffect>
                                  </p:childTnLst>
                                </p:cTn>
                              </p:par>
                              <p:par>
                                <p:cTn id="20" presetID="53" presetClass="entr" presetSubtype="16"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1000" fill="hold"/>
                                        <p:tgtEl>
                                          <p:spTgt spid="20"/>
                                        </p:tgtEl>
                                        <p:attrNameLst>
                                          <p:attrName>ppt_w</p:attrName>
                                        </p:attrNameLst>
                                      </p:cBhvr>
                                      <p:tavLst>
                                        <p:tav tm="0">
                                          <p:val>
                                            <p:fltVal val="0"/>
                                          </p:val>
                                        </p:tav>
                                        <p:tav tm="100000">
                                          <p:val>
                                            <p:strVal val="#ppt_w"/>
                                          </p:val>
                                        </p:tav>
                                      </p:tavLst>
                                    </p:anim>
                                    <p:anim calcmode="lin" valueType="num">
                                      <p:cBhvr>
                                        <p:cTn id="23" dur="1000" fill="hold"/>
                                        <p:tgtEl>
                                          <p:spTgt spid="20"/>
                                        </p:tgtEl>
                                        <p:attrNameLst>
                                          <p:attrName>ppt_h</p:attrName>
                                        </p:attrNameLst>
                                      </p:cBhvr>
                                      <p:tavLst>
                                        <p:tav tm="0">
                                          <p:val>
                                            <p:fltVal val="0"/>
                                          </p:val>
                                        </p:tav>
                                        <p:tav tm="100000">
                                          <p:val>
                                            <p:strVal val="#ppt_h"/>
                                          </p:val>
                                        </p:tav>
                                      </p:tavLst>
                                    </p:anim>
                                    <p:animEffect transition="in" filter="fade">
                                      <p:cBhvr>
                                        <p:cTn id="24" dur="1000"/>
                                        <p:tgtEl>
                                          <p:spTgt spid="20"/>
                                        </p:tgtEl>
                                      </p:cBhvr>
                                    </p:animEffect>
                                  </p:childTnLst>
                                </p:cTn>
                              </p:par>
                              <p:par>
                                <p:cTn id="25" presetID="53" presetClass="entr" presetSubtype="16"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1000" fill="hold"/>
                                        <p:tgtEl>
                                          <p:spTgt spid="21"/>
                                        </p:tgtEl>
                                        <p:attrNameLst>
                                          <p:attrName>ppt_w</p:attrName>
                                        </p:attrNameLst>
                                      </p:cBhvr>
                                      <p:tavLst>
                                        <p:tav tm="0">
                                          <p:val>
                                            <p:fltVal val="0"/>
                                          </p:val>
                                        </p:tav>
                                        <p:tav tm="100000">
                                          <p:val>
                                            <p:strVal val="#ppt_w"/>
                                          </p:val>
                                        </p:tav>
                                      </p:tavLst>
                                    </p:anim>
                                    <p:anim calcmode="lin" valueType="num">
                                      <p:cBhvr>
                                        <p:cTn id="28" dur="1000" fill="hold"/>
                                        <p:tgtEl>
                                          <p:spTgt spid="21"/>
                                        </p:tgtEl>
                                        <p:attrNameLst>
                                          <p:attrName>ppt_h</p:attrName>
                                        </p:attrNameLst>
                                      </p:cBhvr>
                                      <p:tavLst>
                                        <p:tav tm="0">
                                          <p:val>
                                            <p:fltVal val="0"/>
                                          </p:val>
                                        </p:tav>
                                        <p:tav tm="100000">
                                          <p:val>
                                            <p:strVal val="#ppt_h"/>
                                          </p:val>
                                        </p:tav>
                                      </p:tavLst>
                                    </p:anim>
                                    <p:animEffect transition="in" filter="fade">
                                      <p:cBhvr>
                                        <p:cTn id="29"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cxnSp>
        <p:nvCxnSpPr>
          <p:cNvPr id="17" name="Straight Connector 16"/>
          <p:cNvCxnSpPr/>
          <p:nvPr userDrawn="1"/>
        </p:nvCxnSpPr>
        <p:spPr>
          <a:xfrm>
            <a:off x="60960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897765" y="1162050"/>
            <a:ext cx="4697377"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6597297" y="1162050"/>
            <a:ext cx="4697377"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2" name="Text Placeholder 20"/>
          <p:cNvSpPr>
            <a:spLocks noGrp="1"/>
          </p:cNvSpPr>
          <p:nvPr>
            <p:ph type="body" sz="quarter" idx="16" hasCustomPrompt="1"/>
          </p:nvPr>
        </p:nvSpPr>
        <p:spPr>
          <a:xfrm>
            <a:off x="898361"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6597892"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5" name="Rectangle 24"/>
          <p:cNvSpPr/>
          <p:nvPr userDrawn="1"/>
        </p:nvSpPr>
        <p:spPr>
          <a:xfrm flipH="1" flipV="1">
            <a:off x="898257"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6597788"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0" name="Picture 19"/>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27B2114-05AD-5B46-042A-74C2E1E114D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5412D61D-E589-A35B-EEF9-9C42ABC105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68A589A6-0D91-BA6C-6308-33240D74B74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9A0B255F-3EA0-6316-1814-EA69B3A1C94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99C3888-223C-A47F-802D-E01AE0261584}"/>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AAFDAA6-E7FA-2A32-DFA6-F90442ED860C}"/>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94DC1B11-CA57-3325-DD06-C67EE58D7FC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8C3C485-7E6C-D1B8-B245-95DB0F954A97}"/>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A4B1F8E9-DA5B-DA41-D6FB-62DFDED23A37}"/>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1B773FC-C6DB-8895-F8FB-AC357B5F1F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8ED3E9AD-AE54-8D77-117E-98F95DCE650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02342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329375" y="1162050"/>
            <a:ext cx="3368256" cy="1949450"/>
          </a:xfrm>
        </p:spPr>
        <p:txBody>
          <a:bodyPr anchor="ctr" anchorCtr="0">
            <a:normAutofit/>
          </a:bodyPr>
          <a:lstStyle>
            <a:lvl1pPr marL="0" indent="0" algn="ctr">
              <a:buNone/>
              <a:defRPr sz="2000" baseline="0">
                <a:latin typeface="Readex Pro" pitchFamily="2" charset="-78"/>
                <a:cs typeface="Readex Pro" pitchFamily="2" charset="-78"/>
              </a:defRPr>
            </a:lvl1pPr>
          </a:lstStyle>
          <a:p>
            <a:r>
              <a:rPr lang="en-US"/>
              <a:t>Chèn ảnh</a:t>
            </a:r>
          </a:p>
        </p:txBody>
      </p:sp>
      <p:cxnSp>
        <p:nvCxnSpPr>
          <p:cNvPr id="7" name="Straight Connector 6"/>
          <p:cNvCxnSpPr/>
          <p:nvPr userDrawn="1"/>
        </p:nvCxnSpPr>
        <p:spPr>
          <a:xfrm>
            <a:off x="40386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8086459"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4378402" y="1162050"/>
            <a:ext cx="3368256"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8426261" y="1162050"/>
            <a:ext cx="3368256"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1" name="Text Placeholder 20"/>
          <p:cNvSpPr>
            <a:spLocks noGrp="1"/>
          </p:cNvSpPr>
          <p:nvPr>
            <p:ph type="body" sz="quarter" idx="15" hasCustomPrompt="1"/>
          </p:nvPr>
        </p:nvSpPr>
        <p:spPr>
          <a:xfrm>
            <a:off x="329912" y="3302000"/>
            <a:ext cx="3367088" cy="2613025"/>
          </a:xfrm>
        </p:spPr>
        <p:txBody>
          <a:bodyPr>
            <a:normAutofit/>
          </a:bodyPr>
          <a:lstStyle>
            <a:lvl1pPr marL="0" indent="0">
              <a:lnSpc>
                <a:spcPct val="100000"/>
              </a:lnSpc>
              <a:buNone/>
              <a:defRPr sz="1800">
                <a:latin typeface="Readex Pro" pitchFamily="2" charset="-78"/>
                <a:cs typeface="Readex Pro" pitchFamily="2" charset="-78"/>
              </a:defRPr>
            </a:lvl1pPr>
            <a:lvl2pPr marL="457200" indent="0">
              <a:lnSpc>
                <a:spcPct val="100000"/>
              </a:lnSpc>
              <a:buNone/>
              <a:defRPr sz="1600">
                <a:latin typeface="Readex Pro" pitchFamily="2" charset="-78"/>
                <a:cs typeface="Readex Pro" pitchFamily="2" charset="-78"/>
              </a:defRPr>
            </a:lvl2pPr>
            <a:lvl3pPr marL="914400" indent="0">
              <a:lnSpc>
                <a:spcPct val="100000"/>
              </a:lnSpc>
              <a:buNone/>
              <a:defRPr sz="1400">
                <a:latin typeface="Readex Pro" pitchFamily="2" charset="-78"/>
                <a:cs typeface="Readex Pro" pitchFamily="2" charset="-78"/>
              </a:defRPr>
            </a:lvl3pPr>
            <a:lvl4pPr marL="1371600" indent="0">
              <a:lnSpc>
                <a:spcPct val="100000"/>
              </a:lnSpc>
              <a:buNone/>
              <a:defRPr sz="1200">
                <a:latin typeface="Readex Pro" pitchFamily="2" charset="-78"/>
                <a:cs typeface="Readex Pro" pitchFamily="2" charset="-78"/>
              </a:defRPr>
            </a:lvl4pPr>
            <a:lvl5pPr marL="1828800" indent="0">
              <a:lnSpc>
                <a:spcPct val="100000"/>
              </a:lnSpc>
              <a:buNone/>
              <a:defRPr sz="1200">
                <a:latin typeface="Readex Pro" pitchFamily="2" charset="-78"/>
                <a:cs typeface="Readex Pro" pitchFamily="2" charset="-78"/>
              </a:defRPr>
            </a:lvl5pPr>
          </a:lstStyle>
          <a:p>
            <a:pPr lvl="0"/>
            <a:r>
              <a:rPr lang="en-US"/>
              <a:t>Nội dung</a:t>
            </a:r>
            <a:endParaRPr lang="en-US" dirty="0"/>
          </a:p>
        </p:txBody>
      </p:sp>
      <p:sp>
        <p:nvSpPr>
          <p:cNvPr id="22" name="Text Placeholder 20"/>
          <p:cNvSpPr>
            <a:spLocks noGrp="1"/>
          </p:cNvSpPr>
          <p:nvPr>
            <p:ph type="body" sz="quarter" idx="16" hasCustomPrompt="1"/>
          </p:nvPr>
        </p:nvSpPr>
        <p:spPr>
          <a:xfrm>
            <a:off x="4378402"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8426260"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4" name="Rectangle 23"/>
          <p:cNvSpPr/>
          <p:nvPr userDrawn="1"/>
        </p:nvSpPr>
        <p:spPr>
          <a:xfrm flipH="1" flipV="1">
            <a:off x="329374"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5" name="Rectangle 24"/>
          <p:cNvSpPr/>
          <p:nvPr userDrawn="1"/>
        </p:nvSpPr>
        <p:spPr>
          <a:xfrm flipH="1" flipV="1">
            <a:off x="4377232"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8425090"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7" name="Picture 26"/>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A85175A-A5CA-FDCD-9D1E-D1E3A5C0861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572AE3C-B845-C37F-3FA3-517EBBCCD80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73C2B34-BC37-24CD-CCCC-86C84255F60D}"/>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4F3A51EC-EB1C-A2F5-191D-39EC3871D7F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D16B55C-8A59-6B1B-682C-62AA2B73A476}"/>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4FC2AAA9-0C7E-3269-988C-8B585C6196A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92758D9-75FB-A297-C9B0-0046880A091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1A0FD0A9-AA5C-7D0D-4E1D-5CCB189D948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7C2D20B6-C339-D112-86D5-A51948B07F5D}"/>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D1D37C2-EC33-4641-5CD8-DBFCCC5A5A3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4" name="Footer Placeholder 4">
            <a:extLst>
              <a:ext uri="{FF2B5EF4-FFF2-40B4-BE49-F238E27FC236}">
                <a16:creationId xmlns:a16="http://schemas.microsoft.com/office/drawing/2014/main" id="{6F9D2D5D-F42C-AD89-38B2-8E5862B86D7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799990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Content Placeholder 9"/>
          <p:cNvSpPr>
            <a:spLocks noGrp="1"/>
          </p:cNvSpPr>
          <p:nvPr>
            <p:ph sz="quarter" idx="12" hasCustomPrompt="1"/>
          </p:nvPr>
        </p:nvSpPr>
        <p:spPr>
          <a:xfrm rot="5400000">
            <a:off x="4113213" y="-1449386"/>
            <a:ext cx="3965573" cy="105156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sp>
        <p:nvSpPr>
          <p:cNvPr id="17"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1" name="Picture 2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043EC71-5B9E-C0BC-1876-C8F7F39BC54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E4374B3-12AF-4FD8-DEB7-27010168D059}"/>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8BA7498-F3BC-86B3-1A69-799334B6D0C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C85D92-154D-811A-7CED-746E05BC99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31FF18A3-B64B-560A-0E4C-FAE23671DD1B}"/>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0087580-3DBD-8257-F1D1-7914462F84C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23924CB2-D38F-D098-BA0D-F7AF3FD0DAE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1944464-246D-1746-8383-CA6C986DD6C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936B468E-C03F-EA5D-3562-3CF0D836AD6F}"/>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EDB08078-B43B-9900-A614-EDD1B700D365}"/>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853B98CF-4D09-7334-F10E-AC294939893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0651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lang="en-US" sz="3200" b="1" kern="1200" smtClean="0">
                <a:solidFill>
                  <a:srgbClr val="1F5CA9"/>
                </a:solidFill>
                <a:latin typeface="K2D" panose="00000500000000000000" pitchFamily="2" charset="-34"/>
                <a:ea typeface="+mn-ea"/>
                <a:cs typeface="+mn-cs"/>
              </a:defRPr>
            </a:lvl1pPr>
          </a:lstStyle>
          <a:p>
            <a:r>
              <a:rPr lang="en-US"/>
              <a:t>Tiêu đề</a:t>
            </a:r>
            <a:endParaRPr lang="en-US" dirty="0"/>
          </a:p>
        </p:txBody>
      </p:sp>
      <p:sp>
        <p:nvSpPr>
          <p:cNvPr id="13" name="Content Placeholder 9"/>
          <p:cNvSpPr>
            <a:spLocks noGrp="1"/>
          </p:cNvSpPr>
          <p:nvPr>
            <p:ph sz="quarter" idx="12" hasCustomPrompt="1"/>
          </p:nvPr>
        </p:nvSpPr>
        <p:spPr>
          <a:xfrm rot="5400000">
            <a:off x="1875631" y="-672303"/>
            <a:ext cx="5811837" cy="78867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21981" y="51983"/>
            <a:ext cx="292100" cy="292100"/>
          </a:xfrm>
          <a:prstGeom prst="rect">
            <a:avLst/>
          </a:prstGeom>
        </p:spPr>
      </p:pic>
      <p:pic>
        <p:nvPicPr>
          <p:cNvPr id="19" name="Picture 18"/>
          <p:cNvPicPr>
            <a:picLocks noChangeAspect="1"/>
          </p:cNvPicPr>
          <p:nvPr userDrawn="1"/>
        </p:nvPicPr>
        <p:blipFill>
          <a:blip r:embed="rId3"/>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0E9D4A31-78FB-C50E-E557-1D6A2AB1B39D}"/>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2DE77047-2D78-10EA-8B2B-464D363FDA7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41B0BADC-EE2D-7AA3-FE84-68EB6BD21ECE}"/>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6EC3A035-1495-F2B0-9581-76B6F74E68E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BEFB4826-5D0F-51B0-8FB3-AF794F93FD9F}"/>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64DA189B-1ADB-AEB4-5954-98C27419F04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6BD18312-4501-E052-78A4-D56485FF5E5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6BFB8709-60EF-0C2D-7AE6-97383C28A99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1A513177-236E-9D57-556A-25BA2A08A567}"/>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B60C45-18AD-EA2E-F8C7-09BC10A7EB8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4" name="Footer Placeholder 4">
            <a:extLst>
              <a:ext uri="{FF2B5EF4-FFF2-40B4-BE49-F238E27FC236}">
                <a16:creationId xmlns:a16="http://schemas.microsoft.com/office/drawing/2014/main" id="{06116A22-46CD-EA17-0317-B3A75C355C67}"/>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2725897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25583"/>
            <a:ext cx="10515600" cy="978408"/>
          </a:xfrm>
        </p:spPr>
        <p:txBody>
          <a:bodyPr/>
          <a:lstStyle>
            <a:lvl1pPr>
              <a:defRPr lang="en-US" sz="3200" b="1" kern="1200" baseline="0" smtClean="0">
                <a:solidFill>
                  <a:srgbClr val="1F5CA9"/>
                </a:solidFill>
                <a:latin typeface="K2D" panose="00000500000000000000" pitchFamily="2" charset="-34"/>
                <a:ea typeface="+mn-ea"/>
                <a:cs typeface="+mn-cs"/>
              </a:defRPr>
            </a:lvl1pPr>
          </a:lstStyle>
          <a:p>
            <a:r>
              <a:rPr lang="en-US"/>
              <a:t>Tiêu đề</a:t>
            </a:r>
            <a:endParaRPr lang="en-US" dirty="0"/>
          </a:p>
        </p:txBody>
      </p:sp>
      <p:pic>
        <p:nvPicPr>
          <p:cNvPr id="18" name="Picture 17">
            <a:extLst>
              <a:ext uri="{FF2B5EF4-FFF2-40B4-BE49-F238E27FC236}">
                <a16:creationId xmlns:a16="http://schemas.microsoft.com/office/drawing/2014/main" id="{3F628E4E-7D92-2696-C967-238AE8D1929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19" name="Picture 18"/>
          <p:cNvPicPr>
            <a:picLocks noChangeAspect="1"/>
          </p:cNvPicPr>
          <p:nvPr userDrawn="1"/>
        </p:nvPicPr>
        <p:blipFill>
          <a:blip r:embed="rId4"/>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ACD306E5-CFB4-AF8E-362E-7264A2EE8FC3}"/>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17E40D7E-4410-6230-80DF-9F48DDD5A2A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F571A584-94A8-DB0F-72C3-58733380A87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9E163D15-A7C4-C136-3C34-D85D43DF91D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CCA5ACA2-579F-CD83-86DA-E253A52172C6}"/>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9C5BCA61-C1DF-F935-9A58-6E188F2CB05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368E80D1-1F87-F099-C499-A6D08F0D1B7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87DD4F89-FFA6-2586-6CFF-BAD9CA9BBED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34ADDEC2-86AA-36BA-1460-FC4BE106E1D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900BAA20-270C-6BB8-126D-274EA4BC32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3" name="Footer Placeholder 4">
            <a:extLst>
              <a:ext uri="{FF2B5EF4-FFF2-40B4-BE49-F238E27FC236}">
                <a16:creationId xmlns:a16="http://schemas.microsoft.com/office/drawing/2014/main" id="{5E3DB167-B4F8-7DE2-3FE9-16BA7DFC448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9575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77A98-B16D-37D0-150B-AA6EC7793AF8}"/>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0AAABEF-0466-E8D9-7159-4498725EB23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AB5B4BC4-A4A2-B7AE-36B8-5F8601CBD24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D43324B4-3F68-C3A0-CCD5-76223DA44378}"/>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CCAF8661-5038-9FE1-BBA8-946867DADAB0}"/>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C383C5A-EDBD-9F53-185B-2E7B394F345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4FA2C68B-0393-7A63-49AA-3FFE7FE14C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E0CA16E1-AF2D-D0AA-1F01-070BA884ACD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BCC7B34-3035-0952-6B45-935B76D988E3}"/>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2A7B063C-9DEE-224B-8FD3-B578122F70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004C0A-B376-851D-1C1F-61573C0B972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6" name="Footer Placeholder 4">
            <a:extLst>
              <a:ext uri="{FF2B5EF4-FFF2-40B4-BE49-F238E27FC236}">
                <a16:creationId xmlns:a16="http://schemas.microsoft.com/office/drawing/2014/main" id="{AD28DB7B-FFF4-7151-C18D-3C7D5D9D8F6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1263690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Blue 1">
    <p:bg>
      <p:bgPr>
        <a:solidFill>
          <a:srgbClr val="1F5CA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F29CC0-A8E3-7B26-83F7-23FD30C83BAD}"/>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3" name="Rectangle 12">
            <a:extLst>
              <a:ext uri="{FF2B5EF4-FFF2-40B4-BE49-F238E27FC236}">
                <a16:creationId xmlns:a16="http://schemas.microsoft.com/office/drawing/2014/main" id="{ECA7CBBB-5BEC-4156-BB0B-762A1656305F}"/>
              </a:ext>
            </a:extLst>
          </p:cNvPr>
          <p:cNvSpPr/>
          <p:nvPr userDrawn="1"/>
        </p:nvSpPr>
        <p:spPr>
          <a:xfrm>
            <a:off x="135235" y="6474525"/>
            <a:ext cx="544432"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14" name="Group 13">
            <a:extLst>
              <a:ext uri="{FF2B5EF4-FFF2-40B4-BE49-F238E27FC236}">
                <a16:creationId xmlns:a16="http://schemas.microsoft.com/office/drawing/2014/main" id="{44E0175B-DA75-48B5-9D9D-69732B703EF5}"/>
              </a:ext>
            </a:extLst>
          </p:cNvPr>
          <p:cNvGrpSpPr/>
          <p:nvPr userDrawn="1"/>
        </p:nvGrpSpPr>
        <p:grpSpPr>
          <a:xfrm>
            <a:off x="205437" y="6454898"/>
            <a:ext cx="544432" cy="365125"/>
            <a:chOff x="119712" y="6454898"/>
            <a:chExt cx="544432" cy="365125"/>
          </a:xfrm>
        </p:grpSpPr>
        <p:sp>
          <p:nvSpPr>
            <p:cNvPr id="20" name="Rectangle 19">
              <a:extLst>
                <a:ext uri="{FF2B5EF4-FFF2-40B4-BE49-F238E27FC236}">
                  <a16:creationId xmlns:a16="http://schemas.microsoft.com/office/drawing/2014/main" id="{3FADB430-7D50-4978-89C8-6C6EBBB3035E}"/>
                </a:ext>
              </a:extLst>
            </p:cNvPr>
            <p:cNvSpPr/>
            <p:nvPr userDrawn="1"/>
          </p:nvSpPr>
          <p:spPr>
            <a:xfrm>
              <a:off x="119712" y="6488235"/>
              <a:ext cx="544432" cy="29845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1" name="Slide Number Placeholder 5">
              <a:extLst>
                <a:ext uri="{FF2B5EF4-FFF2-40B4-BE49-F238E27FC236}">
                  <a16:creationId xmlns:a16="http://schemas.microsoft.com/office/drawing/2014/main" id="{7688F936-0D30-441F-BBA9-66AE32197B6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grpSp>
      <p:sp>
        <p:nvSpPr>
          <p:cNvPr id="22" name="Date Placeholder 3">
            <a:extLst>
              <a:ext uri="{FF2B5EF4-FFF2-40B4-BE49-F238E27FC236}">
                <a16:creationId xmlns:a16="http://schemas.microsoft.com/office/drawing/2014/main" id="{4F36C960-0DDB-40F7-96C6-0E5E092E47ED}"/>
              </a:ext>
            </a:extLst>
          </p:cNvPr>
          <p:cNvSpPr>
            <a:spLocks noGrp="1"/>
          </p:cNvSpPr>
          <p:nvPr>
            <p:ph type="dt" sz="half" idx="10"/>
          </p:nvPr>
        </p:nvSpPr>
        <p:spPr>
          <a:xfrm>
            <a:off x="914400" y="6548263"/>
            <a:ext cx="2743200"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10/18/2026</a:t>
            </a:fld>
            <a:endParaRPr lang="en-US"/>
          </a:p>
        </p:txBody>
      </p:sp>
      <p:sp>
        <p:nvSpPr>
          <p:cNvPr id="24" name="Footer Placeholder 4">
            <a:extLst>
              <a:ext uri="{FF2B5EF4-FFF2-40B4-BE49-F238E27FC236}">
                <a16:creationId xmlns:a16="http://schemas.microsoft.com/office/drawing/2014/main" id="{EB56B231-F846-4811-B632-4AB4BAA986FB}"/>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
        <p:nvSpPr>
          <p:cNvPr id="31" name="TextBox 30">
            <a:extLst>
              <a:ext uri="{FF2B5EF4-FFF2-40B4-BE49-F238E27FC236}">
                <a16:creationId xmlns:a16="http://schemas.microsoft.com/office/drawing/2014/main" id="{44250632-77FB-405A-BBE8-9981579CE7EF}"/>
              </a:ext>
            </a:extLst>
          </p:cNvPr>
          <p:cNvSpPr txBox="1"/>
          <p:nvPr/>
        </p:nvSpPr>
        <p:spPr>
          <a:xfrm>
            <a:off x="8176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sp>
        <p:nvSpPr>
          <p:cNvPr id="32" name="TextBox 31">
            <a:extLst>
              <a:ext uri="{FF2B5EF4-FFF2-40B4-BE49-F238E27FC236}">
                <a16:creationId xmlns:a16="http://schemas.microsoft.com/office/drawing/2014/main" id="{12F06559-0D08-475B-BB2B-C2AD79E1EA9A}"/>
              </a:ext>
            </a:extLst>
          </p:cNvPr>
          <p:cNvSpPr txBox="1"/>
          <p:nvPr userDrawn="1"/>
        </p:nvSpPr>
        <p:spPr>
          <a:xfrm>
            <a:off x="10536385"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pic>
        <p:nvPicPr>
          <p:cNvPr id="33" name="Picture 32">
            <a:extLst>
              <a:ext uri="{FF2B5EF4-FFF2-40B4-BE49-F238E27FC236}">
                <a16:creationId xmlns:a16="http://schemas.microsoft.com/office/drawing/2014/main" id="{7A2DBFB6-FB51-4349-AD79-DB5E3B289A6C}"/>
              </a:ext>
            </a:extLst>
          </p:cNvPr>
          <p:cNvPicPr>
            <a:picLocks noChangeAspect="1"/>
          </p:cNvPicPr>
          <p:nvPr userDrawn="1"/>
        </p:nvPicPr>
        <p:blipFill>
          <a:blip r:embed="rId3"/>
          <a:stretch>
            <a:fillRect/>
          </a:stretch>
        </p:blipFill>
        <p:spPr>
          <a:xfrm>
            <a:off x="2602785" y="6488354"/>
            <a:ext cx="9336024" cy="118217"/>
          </a:xfrm>
          <a:prstGeom prst="rect">
            <a:avLst/>
          </a:prstGeom>
        </p:spPr>
      </p:pic>
      <p:sp>
        <p:nvSpPr>
          <p:cNvPr id="15" name="TextBox 14">
            <a:extLst>
              <a:ext uri="{FF2B5EF4-FFF2-40B4-BE49-F238E27FC236}">
                <a16:creationId xmlns:a16="http://schemas.microsoft.com/office/drawing/2014/main" id="{E3741078-A544-42D3-8CE7-5F2F115BABE0}"/>
              </a:ext>
            </a:extLst>
          </p:cNvPr>
          <p:cNvSpPr txBox="1"/>
          <p:nvPr userDrawn="1"/>
        </p:nvSpPr>
        <p:spPr>
          <a:xfrm>
            <a:off x="8176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grpSp>
        <p:nvGrpSpPr>
          <p:cNvPr id="2" name="Group 1">
            <a:extLst>
              <a:ext uri="{FF2B5EF4-FFF2-40B4-BE49-F238E27FC236}">
                <a16:creationId xmlns:a16="http://schemas.microsoft.com/office/drawing/2014/main" id="{99C7F682-0100-EB65-9EF7-68F4E1527F64}"/>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7B12206D-0D33-F7BF-D5C3-71176B0C507A}"/>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958F7DE-9367-1A7B-0471-C642F47C03A3}"/>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F2EDA6-9276-E821-1BDA-7B118853E64D}"/>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4608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Blue 2">
    <p:bg>
      <p:bgPr>
        <a:solidFill>
          <a:srgbClr val="00B0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A39DEC0-0415-D667-18C3-EEA5AEBABEAC}"/>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grpSp>
        <p:nvGrpSpPr>
          <p:cNvPr id="6" name="Group 5">
            <a:extLst>
              <a:ext uri="{FF2B5EF4-FFF2-40B4-BE49-F238E27FC236}">
                <a16:creationId xmlns:a16="http://schemas.microsoft.com/office/drawing/2014/main" id="{E74BF315-D1FC-6421-060B-3FFD387F1B1D}"/>
              </a:ext>
            </a:extLst>
          </p:cNvPr>
          <p:cNvGrpSpPr/>
          <p:nvPr userDrawn="1"/>
        </p:nvGrpSpPr>
        <p:grpSpPr>
          <a:xfrm rot="5400000" flipH="1">
            <a:off x="11994349" y="89858"/>
            <a:ext cx="108319" cy="107166"/>
            <a:chOff x="9886950" y="442913"/>
            <a:chExt cx="216694" cy="214386"/>
          </a:xfrm>
        </p:grpSpPr>
        <p:sp>
          <p:nvSpPr>
            <p:cNvPr id="7" name="Rectangle: Rounded Corners 6">
              <a:extLst>
                <a:ext uri="{FF2B5EF4-FFF2-40B4-BE49-F238E27FC236}">
                  <a16:creationId xmlns:a16="http://schemas.microsoft.com/office/drawing/2014/main" id="{D2D3478F-4D6B-F3FC-93EE-781955B168ED}"/>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0E6027-7A58-80A0-C4DE-BD292242A19B}"/>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C39217D-11B2-EC58-7DB9-670BADCEC0E6}"/>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9E2A5B-C398-3A54-39BB-1A10AD77A4C3}"/>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3" name="Slide Number Placeholder 5">
            <a:extLst>
              <a:ext uri="{FF2B5EF4-FFF2-40B4-BE49-F238E27FC236}">
                <a16:creationId xmlns:a16="http://schemas.microsoft.com/office/drawing/2014/main" id="{540C400F-3AEE-5C28-4A10-78CBA14078B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3FA79BBA-69C1-570D-F28E-9BB9C6ACBEC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ACC30C32-8749-8F9D-AFB9-200DC55D9965}"/>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1" name="Slide Number Placeholder 5">
            <a:extLst>
              <a:ext uri="{FF2B5EF4-FFF2-40B4-BE49-F238E27FC236}">
                <a16:creationId xmlns:a16="http://schemas.microsoft.com/office/drawing/2014/main" id="{636664E3-F587-5BFA-8277-C0DDF1B0FB4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2" name="Group 11">
            <a:extLst>
              <a:ext uri="{FF2B5EF4-FFF2-40B4-BE49-F238E27FC236}">
                <a16:creationId xmlns:a16="http://schemas.microsoft.com/office/drawing/2014/main" id="{7AF36890-856E-2F7B-8E55-A33B790D7C18}"/>
              </a:ext>
            </a:extLst>
          </p:cNvPr>
          <p:cNvGrpSpPr/>
          <p:nvPr userDrawn="1"/>
        </p:nvGrpSpPr>
        <p:grpSpPr>
          <a:xfrm>
            <a:off x="817685" y="6410864"/>
            <a:ext cx="2760487" cy="403790"/>
            <a:chOff x="741485" y="6410864"/>
            <a:chExt cx="2760487" cy="403790"/>
          </a:xfrm>
        </p:grpSpPr>
        <p:sp>
          <p:nvSpPr>
            <p:cNvPr id="13" name="TextBox 12">
              <a:extLst>
                <a:ext uri="{FF2B5EF4-FFF2-40B4-BE49-F238E27FC236}">
                  <a16:creationId xmlns:a16="http://schemas.microsoft.com/office/drawing/2014/main" id="{63B2CBB7-80CC-0503-06CA-B293272E754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6E49DC9B-DB28-1334-ACD6-A7837974CC5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2896B089-ECA6-A22E-B1B3-DEA30DA3A29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8" name="Date Placeholder 3">
            <a:extLst>
              <a:ext uri="{FF2B5EF4-FFF2-40B4-BE49-F238E27FC236}">
                <a16:creationId xmlns:a16="http://schemas.microsoft.com/office/drawing/2014/main" id="{3CA8C4BA-A884-9E59-FFE3-0B919D005D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10/18/2026</a:t>
            </a:fld>
            <a:endParaRPr lang="en-US"/>
          </a:p>
        </p:txBody>
      </p:sp>
      <p:sp>
        <p:nvSpPr>
          <p:cNvPr id="21" name="Footer Placeholder 4">
            <a:extLst>
              <a:ext uri="{FF2B5EF4-FFF2-40B4-BE49-F238E27FC236}">
                <a16:creationId xmlns:a16="http://schemas.microsoft.com/office/drawing/2014/main" id="{79B8DE1D-7394-99A3-7495-C14CDDA1EC25}"/>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3571172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cbook 1">
    <p:spTree>
      <p:nvGrpSpPr>
        <p:cNvPr id="1" name=""/>
        <p:cNvGrpSpPr/>
        <p:nvPr/>
      </p:nvGrpSpPr>
      <p:grpSpPr>
        <a:xfrm>
          <a:off x="0" y="0"/>
          <a:ext cx="0" cy="0"/>
          <a:chOff x="0" y="0"/>
          <a:chExt cx="0" cy="0"/>
        </a:xfrm>
      </p:grpSpPr>
      <p:grpSp>
        <p:nvGrpSpPr>
          <p:cNvPr id="10" name="9Slide.vn 1">
            <a:extLst>
              <a:ext uri="{FF2B5EF4-FFF2-40B4-BE49-F238E27FC236}">
                <a16:creationId xmlns:a16="http://schemas.microsoft.com/office/drawing/2014/main" id="{2946107B-86B5-4108-B9D9-FBE88B6AF6A9}"/>
              </a:ext>
            </a:extLst>
          </p:cNvPr>
          <p:cNvGrpSpPr/>
          <p:nvPr userDrawn="1"/>
        </p:nvGrpSpPr>
        <p:grpSpPr>
          <a:xfrm>
            <a:off x="2262706"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3219450"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pic>
        <p:nvPicPr>
          <p:cNvPr id="29" name="Picture 2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66F8249F-933F-27B4-037F-1BE57AC729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B72D8527-F93B-EB58-7740-2C078C40D098}"/>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02B52FF-C488-9746-1718-20EBF7C6F69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5C91F8AA-07ED-7376-C0C8-2331E007AE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A998A477-5FFB-8A7A-8F05-0A80F04AEFB7}"/>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1725ED5-67ED-5B9A-3DCA-1DE0F4C58341}"/>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4E9266B7-33A3-424D-B662-BE0A9937A840}"/>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A686A9F9-4156-B900-5857-6016C3E85FAB}"/>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9D0D5907-9052-863A-8BCC-EF17800E64D9}"/>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BF2144C9-292D-3866-E801-4F565FEE1A80}"/>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4" name="Footer Placeholder 4">
            <a:extLst>
              <a:ext uri="{FF2B5EF4-FFF2-40B4-BE49-F238E27FC236}">
                <a16:creationId xmlns:a16="http://schemas.microsoft.com/office/drawing/2014/main" id="{9BEA6383-5223-C237-6EF3-C8B51BE5EDA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621534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cbook 2">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DADA73C-32DA-6364-6627-ED34BFEF2D0C}"/>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2642247" y="1727802"/>
            <a:ext cx="3453753" cy="3402396"/>
          </a:xfrm>
          <a:prstGeom prst="rect">
            <a:avLst/>
          </a:prstGeom>
        </p:spPr>
      </p:pic>
      <p:grpSp>
        <p:nvGrpSpPr>
          <p:cNvPr id="10" name="9Slide.vn 1">
            <a:extLst>
              <a:ext uri="{FF2B5EF4-FFF2-40B4-BE49-F238E27FC236}">
                <a16:creationId xmlns:a16="http://schemas.microsoft.com/office/drawing/2014/main" id="{2946107B-86B5-4108-B9D9-FBE88B6AF6A9}"/>
              </a:ext>
            </a:extLst>
          </p:cNvPr>
          <p:cNvGrpSpPr/>
          <p:nvPr userDrawn="1"/>
        </p:nvGrpSpPr>
        <p:grpSpPr>
          <a:xfrm>
            <a:off x="5868547"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6825291"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sp>
        <p:nvSpPr>
          <p:cNvPr id="24" name="Title 1"/>
          <p:cNvSpPr>
            <a:spLocks noGrp="1"/>
          </p:cNvSpPr>
          <p:nvPr>
            <p:ph type="ctrTitle" hasCustomPrompt="1"/>
          </p:nvPr>
        </p:nvSpPr>
        <p:spPr>
          <a:xfrm>
            <a:off x="514349" y="1400175"/>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3160711"/>
            <a:ext cx="5153026" cy="1839914"/>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31" name="Picture 3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005A496-97A9-F2E6-5A93-82ED2999180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3C5E9CB3-D945-22DB-F3B1-01E643966ACF}"/>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F4D6A3BA-05EA-D4A6-D520-6A0BBE9ACFC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C181D0D4-C58F-2943-9F96-7367FEA221D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05313E83-E883-5D3C-7410-B094E1918C1E}"/>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D148F3C-F670-4585-6238-F7F73412182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9D5B6593-3DAF-E642-22A3-B33B2E999E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D612E298-D721-FB54-E8B1-308FB365446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2FDE4871-7678-DA84-8689-2F27B59205B8}"/>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13E948E-49EF-8C4E-0898-E98F72B6A12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4" name="Footer Placeholder 4">
            <a:extLst>
              <a:ext uri="{FF2B5EF4-FFF2-40B4-BE49-F238E27FC236}">
                <a16:creationId xmlns:a16="http://schemas.microsoft.com/office/drawing/2014/main" id="{35A65652-1FC1-56DE-41BF-70B7E3176F6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35169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ne 1">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17" name="Picture 16">
            <a:extLst>
              <a:ext uri="{FF2B5EF4-FFF2-40B4-BE49-F238E27FC236}">
                <a16:creationId xmlns:a16="http://schemas.microsoft.com/office/drawing/2014/main" id="{FB96C117-0DD7-57D2-DF3E-3C0A174E03F4}"/>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0" name="Picture 2" descr="Samsung Mobile Mockup Template Download on Pngtree | Mobile mockup, Samsung  mobile, Samsu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46875" y="657226"/>
            <a:ext cx="4972049" cy="4972050"/>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5"/>
          <p:cNvSpPr>
            <a:spLocks noGrp="1"/>
          </p:cNvSpPr>
          <p:nvPr>
            <p:ph type="pic" sz="quarter" idx="12" hasCustomPrompt="1"/>
          </p:nvPr>
        </p:nvSpPr>
        <p:spPr>
          <a:xfrm>
            <a:off x="8305800" y="1057275"/>
            <a:ext cx="2095500" cy="4038600"/>
          </a:xfrm>
          <a:prstGeom prst="roundRect">
            <a:avLst>
              <a:gd name="adj" fmla="val 4741"/>
            </a:avLst>
          </a:prstGeom>
          <a:solidFill>
            <a:schemeClr val="bg1">
              <a:lumMod val="95000"/>
            </a:schemeClr>
          </a:solidFill>
        </p:spPr>
        <p:txBody>
          <a:bodyPr anchor="ctr" anchorCtr="0"/>
          <a:lstStyle>
            <a:lvl1pPr marL="0" indent="0" algn="ctr">
              <a:buNone/>
              <a:defRPr/>
            </a:lvl1pPr>
          </a:lstStyle>
          <a:p>
            <a:r>
              <a:rPr lang="en-US"/>
              <a:t>Thêm ảnh</a:t>
            </a:r>
          </a:p>
        </p:txBody>
      </p:sp>
      <p:pic>
        <p:nvPicPr>
          <p:cNvPr id="18" name="Picture 17"/>
          <p:cNvPicPr>
            <a:picLocks noChangeAspect="1"/>
          </p:cNvPicPr>
          <p:nvPr userDrawn="1"/>
        </p:nvPicPr>
        <p:blipFill>
          <a:blip r:embed="rId4"/>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9F5E8B0A-35A9-1D4F-DB19-BE07791E78F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8DE1F6B-3A1F-F4AA-B616-B69C903A909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DA17A55-6967-1E8F-7303-5303CBD602A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4F218F-2B5C-5125-3565-DD9470D6775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5F21373-8291-8606-349F-C9D37F7F42EA}"/>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890A1A8-07D6-CC23-110F-A4349C95D83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C4B2C4FA-6364-1259-35B8-B7538FBAB89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C298D622-19A9-9C4F-D8B3-A0B8BACFDA9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1D19E43-BFD6-BAEA-5172-CB6E311691D2}"/>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086DB862-383E-AC4E-53C8-05578489E46A}"/>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861406AB-9157-BB66-317E-91FF66767BA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06749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ne 2">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E6F05EB3-1A18-FFAB-87F4-C3B6F94C3D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7943863" y="1011126"/>
            <a:ext cx="3171810" cy="51387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B58D15-E021-9409-2BF6-38B86625489C}"/>
              </a:ext>
            </a:extLst>
          </p:cNvPr>
          <p:cNvPicPr>
            <a:picLocks noChangeAspect="1"/>
          </p:cNvPicPr>
          <p:nvPr userDrawn="1"/>
        </p:nvPicPr>
        <p:blipFill>
          <a:blip r:embed="rId3">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27" name="Title 1">
            <a:extLst>
              <a:ext uri="{FF2B5EF4-FFF2-40B4-BE49-F238E27FC236}">
                <a16:creationId xmlns:a16="http://schemas.microsoft.com/office/drawing/2014/main" id="{E05A38DB-2EAE-47C8-9F84-174DA202456A}"/>
              </a:ext>
            </a:extLst>
          </p:cNvPr>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8" name="Subtitle 2">
            <a:extLst>
              <a:ext uri="{FF2B5EF4-FFF2-40B4-BE49-F238E27FC236}">
                <a16:creationId xmlns:a16="http://schemas.microsoft.com/office/drawing/2014/main" id="{472C8C42-C792-4628-B171-1C30DA52BBDE}"/>
              </a:ext>
            </a:extLst>
          </p:cNvPr>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Slide Number Placeholder 5">
            <a:extLst>
              <a:ext uri="{FF2B5EF4-FFF2-40B4-BE49-F238E27FC236}">
                <a16:creationId xmlns:a16="http://schemas.microsoft.com/office/drawing/2014/main" id="{CEFF8FA1-B5A4-2A75-DF61-6155775A60B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9028A97E-3A14-7BF0-D186-C53734F2598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9894450-A56F-CB14-56CE-6BAB4A469F50}"/>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6EDC2765-72E6-0900-A64B-07D9394DE1EE}"/>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5972BBAE-9F84-4D92-5FC5-6BAC2EBBA3A7}"/>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D8EF8C-2CE8-32A2-4893-8A1F462F59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C64073C-92F4-B219-BB9F-D220B1F1317A}"/>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CDC2B2F-DD31-C057-140F-8607950C122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1FD099AF-ADE0-F209-43E6-00047303FC95}"/>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9D6B138-607A-1698-333D-31B07D850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10/18/2026</a:t>
            </a:fld>
            <a:endParaRPr lang="en-US"/>
          </a:p>
        </p:txBody>
      </p:sp>
      <p:sp>
        <p:nvSpPr>
          <p:cNvPr id="12" name="Footer Placeholder 4">
            <a:extLst>
              <a:ext uri="{FF2B5EF4-FFF2-40B4-BE49-F238E27FC236}">
                <a16:creationId xmlns:a16="http://schemas.microsoft.com/office/drawing/2014/main" id="{0EC58AAA-3CCF-ABE2-A4E2-6851325D5CA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
        <p:nvSpPr>
          <p:cNvPr id="13" name="Picture Placeholder 1">
            <a:extLst>
              <a:ext uri="{FF2B5EF4-FFF2-40B4-BE49-F238E27FC236}">
                <a16:creationId xmlns:a16="http://schemas.microsoft.com/office/drawing/2014/main" id="{2E6D52DE-4D97-3181-9440-19E31A6CE81C}"/>
              </a:ext>
            </a:extLst>
          </p:cNvPr>
          <p:cNvSpPr>
            <a:spLocks noGrp="1"/>
          </p:cNvSpPr>
          <p:nvPr>
            <p:ph type="pic" sz="quarter" idx="15" hasCustomPrompt="1"/>
          </p:nvPr>
        </p:nvSpPr>
        <p:spPr>
          <a:xfrm>
            <a:off x="8461702" y="1108334"/>
            <a:ext cx="2131430" cy="4626572"/>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solidFill>
            <a:schemeClr val="bg1">
              <a:lumMod val="95000"/>
            </a:schemeClr>
          </a:solidFill>
        </p:spPr>
        <p:txBody>
          <a:bodyPr anchor="ctr" anchorCtr="0"/>
          <a:lstStyle>
            <a:lvl1pPr marL="0" indent="0" algn="ctr">
              <a:buNone/>
              <a:defRPr/>
            </a:lvl1pPr>
          </a:lstStyle>
          <a:p>
            <a:r>
              <a:rPr lang="en-US"/>
              <a:t>Thêm ảnh</a:t>
            </a:r>
          </a:p>
        </p:txBody>
      </p:sp>
      <p:sp>
        <p:nvSpPr>
          <p:cNvPr id="15" name="Picture Placeholder 1">
            <a:extLst>
              <a:ext uri="{FF2B5EF4-FFF2-40B4-BE49-F238E27FC236}">
                <a16:creationId xmlns:a16="http://schemas.microsoft.com/office/drawing/2014/main" id="{88786B7F-DEAA-9BB7-8BD3-B3780EB61BCA}"/>
              </a:ext>
            </a:extLst>
          </p:cNvPr>
          <p:cNvSpPr>
            <a:spLocks noGrp="1"/>
          </p:cNvSpPr>
          <p:nvPr>
            <p:ph type="pic" sz="quarter" idx="16" hasCustomPrompt="1"/>
          </p:nvPr>
        </p:nvSpPr>
        <p:spPr>
          <a:xfrm>
            <a:off x="9255760" y="1200818"/>
            <a:ext cx="534445" cy="155541"/>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blipFill>
            <a:blip r:embed="rId6"/>
            <a:stretch>
              <a:fillRect/>
            </a:stretch>
          </a:blipFill>
        </p:spPr>
        <p:txBody>
          <a:bodyPr anchor="ctr" anchorCtr="0"/>
          <a:lstStyle>
            <a:lvl1pPr marL="0" indent="0" algn="ctr">
              <a:buNone/>
              <a:defRPr/>
            </a:lvl1pPr>
          </a:lstStyle>
          <a:p>
            <a:r>
              <a:rPr lang="en-US"/>
              <a:t> </a:t>
            </a:r>
          </a:p>
        </p:txBody>
      </p:sp>
    </p:spTree>
    <p:extLst>
      <p:ext uri="{BB962C8B-B14F-4D97-AF65-F5344CB8AC3E}">
        <p14:creationId xmlns:p14="http://schemas.microsoft.com/office/powerpoint/2010/main" val="323630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Effect transition="in" filter="wipe(left)">
                                      <p:cBhvr>
                                        <p:cTn id="11"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K2D" panose="00000500000000000000" pitchFamily="2" charset="-34"/>
              </a:defRPr>
            </a:lvl1pPr>
          </a:lstStyle>
          <a:p>
            <a:fld id="{00D1CE85-AA59-46D7-98F4-301D80B40614}" type="datetimeFigureOut">
              <a:rPr lang="en-US" smtClean="0"/>
              <a:pPr/>
              <a:t>10/18/2026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K2D" panose="00000500000000000000" pitchFamily="2" charset="-34"/>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K2D" panose="00000500000000000000" pitchFamily="2" charset="-34"/>
              </a:defRPr>
            </a:lvl1pPr>
          </a:lstStyle>
          <a:p>
            <a:fld id="{B9B05A01-6F48-4D1A-BEA9-613C8F70D2DA}" type="slidenum">
              <a:rPr lang="en-US" smtClean="0"/>
              <a:pPr/>
              <a:t>‹#›</a:t>
            </a:fld>
            <a:endParaRPr lang="en-US"/>
          </a:p>
        </p:txBody>
      </p:sp>
    </p:spTree>
    <p:extLst>
      <p:ext uri="{BB962C8B-B14F-4D97-AF65-F5344CB8AC3E}">
        <p14:creationId xmlns:p14="http://schemas.microsoft.com/office/powerpoint/2010/main" val="1103704578"/>
      </p:ext>
    </p:extLst>
  </p:cSld>
  <p:clrMap bg1="lt1" tx1="dk1" bg2="lt2" tx2="dk2" accent1="accent1" accent2="accent2" accent3="accent3" accent4="accent4" accent5="accent5" accent6="accent6" hlink="hlink" folHlink="folHlink"/>
  <p:sldLayoutIdLst>
    <p:sldLayoutId id="2147483650" r:id="rId1"/>
    <p:sldLayoutId id="2147483680" r:id="rId2"/>
    <p:sldLayoutId id="2147483679" r:id="rId3"/>
    <p:sldLayoutId id="2147483652" r:id="rId4"/>
    <p:sldLayoutId id="2147483653" r:id="rId5"/>
    <p:sldLayoutId id="2147483654" r:id="rId6"/>
    <p:sldLayoutId id="2147483677" r:id="rId7"/>
    <p:sldLayoutId id="2147483655" r:id="rId8"/>
    <p:sldLayoutId id="2147483656" r:id="rId9"/>
    <p:sldLayoutId id="2147483657" r:id="rId10"/>
    <p:sldLayoutId id="2147483678" r:id="rId11"/>
    <p:sldLayoutId id="2147483658" r:id="rId12"/>
    <p:sldLayoutId id="2147483659" r:id="rId13"/>
    <p:sldLayoutId id="2147483660" r:id="rId14"/>
    <p:sldLayoutId id="2147483661" r:id="rId15"/>
    <p:sldLayoutId id="2147483663" r:id="rId16"/>
    <p:sldLayoutId id="2147483666" r:id="rId17"/>
    <p:sldLayoutId id="2147483674" r:id="rId18"/>
    <p:sldLayoutId id="2147483673" r:id="rId19"/>
    <p:sldLayoutId id="2147483675" r:id="rId20"/>
    <p:sldLayoutId id="2147483676" r:id="rId21"/>
    <p:sldLayoutId id="2147483664" r:id="rId22"/>
    <p:sldLayoutId id="2147483665" r:id="rId23"/>
    <p:sldLayoutId id="2147483667" r:id="rId24"/>
    <p:sldLayoutId id="2147483668" r:id="rId25"/>
    <p:sldLayoutId id="2147483669" r:id="rId26"/>
    <p:sldLayoutId id="2147483670" r:id="rId27"/>
    <p:sldLayoutId id="2147483671" r:id="rId28"/>
    <p:sldLayoutId id="2147483672" r:id="rId29"/>
  </p:sldLayoutIdLst>
  <p:txStyles>
    <p:title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3600" dirty="0"/>
              <a:t>KHÁM PHÁ CÁC XU HƯỚNG CNTT MỚI NỔI</a:t>
            </a:r>
          </a:p>
        </p:txBody>
      </p:sp>
      <p:sp>
        <p:nvSpPr>
          <p:cNvPr id="3" name="Subtitle 2"/>
          <p:cNvSpPr>
            <a:spLocks noGrp="1"/>
          </p:cNvSpPr>
          <p:nvPr>
            <p:ph type="subTitle" idx="1"/>
          </p:nvPr>
        </p:nvSpPr>
        <p:spPr/>
        <p:txBody>
          <a:bodyPr/>
          <a:lstStyle/>
          <a:p>
            <a:r>
              <a:rPr sz="2600" dirty="0"/>
              <a:t>Vai </a:t>
            </a:r>
            <a:r>
              <a:rPr sz="2600" dirty="0" err="1"/>
              <a:t>trò</a:t>
            </a:r>
            <a:r>
              <a:rPr sz="2600" dirty="0"/>
              <a:t> </a:t>
            </a:r>
            <a:r>
              <a:rPr sz="2600" dirty="0" err="1"/>
              <a:t>của</a:t>
            </a:r>
            <a:r>
              <a:rPr sz="2600" dirty="0"/>
              <a:t> AI </a:t>
            </a:r>
            <a:r>
              <a:rPr sz="2600" dirty="0" err="1"/>
              <a:t>trong</a:t>
            </a:r>
            <a:r>
              <a:rPr sz="2600" dirty="0"/>
              <a:t> </a:t>
            </a:r>
            <a:r>
              <a:rPr sz="2600" dirty="0" err="1"/>
              <a:t>các</a:t>
            </a:r>
            <a:r>
              <a:rPr sz="2600" dirty="0"/>
              <a:t> </a:t>
            </a:r>
            <a:r>
              <a:rPr sz="2600" dirty="0" err="1"/>
              <a:t>công</a:t>
            </a:r>
            <a:r>
              <a:rPr sz="2600" dirty="0"/>
              <a:t> </a:t>
            </a:r>
            <a:r>
              <a:rPr sz="2600" dirty="0" err="1"/>
              <a:t>cụ</a:t>
            </a:r>
            <a:r>
              <a:rPr sz="2600" dirty="0"/>
              <a:t> </a:t>
            </a:r>
            <a:r>
              <a:rPr sz="2600" dirty="0" err="1"/>
              <a:t>hằng</a:t>
            </a:r>
            <a:r>
              <a:rPr sz="2600" dirty="0"/>
              <a:t> </a:t>
            </a:r>
            <a:r>
              <a:rPr sz="2600" dirty="0" err="1"/>
              <a:t>ngày</a:t>
            </a:r>
            <a:endParaRPr sz="2600" dirty="0"/>
          </a:p>
        </p:txBody>
      </p:sp>
      <p:sp>
        <p:nvSpPr>
          <p:cNvPr id="4" name="Text Placeholder 3"/>
          <p:cNvSpPr>
            <a:spLocks noGrp="1"/>
          </p:cNvSpPr>
          <p:nvPr>
            <p:ph type="body" sz="quarter" idx="12"/>
          </p:nvPr>
        </p:nvSpPr>
        <p:spPr/>
        <p:txBody>
          <a:bodyPr/>
          <a:lstStyle/>
          <a:p>
            <a:r>
              <a:rPr sz="1600" dirty="0"/>
              <a:t>Nguyễn Hoàng </a:t>
            </a:r>
            <a:r>
              <a:rPr sz="1600" dirty="0" err="1"/>
              <a:t>Khương</a:t>
            </a:r>
            <a:r>
              <a:rPr sz="1600" dirty="0"/>
              <a:t> (B2605810)  ·  Dương Quốc Thịnh (B2605834)  ·  K52</a:t>
            </a:r>
          </a:p>
        </p:txBody>
      </p:sp>
      <p:sp>
        <p:nvSpPr>
          <p:cNvPr id="5" name="TextBox 4"/>
          <p:cNvSpPr txBox="1"/>
          <p:nvPr/>
        </p:nvSpPr>
        <p:spPr>
          <a:xfrm>
            <a:off x="457200" y="5486400"/>
            <a:ext cx="11247120" cy="365760"/>
          </a:xfrm>
          <a:prstGeom prst="rect">
            <a:avLst/>
          </a:prstGeom>
          <a:noFill/>
        </p:spPr>
        <p:txBody>
          <a:bodyPr wrap="square" lIns="0" tIns="0" rIns="0" bIns="0" anchor="t">
            <a:spAutoFit/>
          </a:bodyPr>
          <a:lstStyle/>
          <a:p>
            <a:pPr algn="ctr">
              <a:spcAft>
                <a:spcPts val="400"/>
              </a:spcAft>
            </a:pPr>
            <a:r>
              <a:rPr sz="1400" b="0" dirty="0">
                <a:solidFill>
                  <a:srgbClr val="FFFFFF"/>
                </a:solidFill>
                <a:latin typeface="Calibri"/>
              </a:rPr>
              <a:t>Học </a:t>
            </a:r>
            <a:r>
              <a:rPr sz="1400" b="0" dirty="0" err="1">
                <a:solidFill>
                  <a:srgbClr val="FFFFFF"/>
                </a:solidFill>
                <a:latin typeface="Calibri"/>
              </a:rPr>
              <a:t>phần</a:t>
            </a:r>
            <a:r>
              <a:rPr sz="1400" b="0" dirty="0">
                <a:solidFill>
                  <a:srgbClr val="FFFFFF"/>
                </a:solidFill>
                <a:latin typeface="Calibri"/>
              </a:rPr>
              <a:t> CT005 – </a:t>
            </a:r>
            <a:r>
              <a:rPr sz="1400" b="0" dirty="0" err="1">
                <a:solidFill>
                  <a:srgbClr val="FFFFFF"/>
                </a:solidFill>
                <a:latin typeface="Calibri"/>
              </a:rPr>
              <a:t>Nền</a:t>
            </a:r>
            <a:r>
              <a:rPr sz="1400" b="0" dirty="0">
                <a:solidFill>
                  <a:srgbClr val="FFFFFF"/>
                </a:solidFill>
                <a:latin typeface="Calibri"/>
              </a:rPr>
              <a:t> </a:t>
            </a:r>
            <a:r>
              <a:rPr sz="1400" b="0" dirty="0" err="1">
                <a:solidFill>
                  <a:srgbClr val="FFFFFF"/>
                </a:solidFill>
                <a:latin typeface="Calibri"/>
              </a:rPr>
              <a:t>tảng</a:t>
            </a:r>
            <a:r>
              <a:rPr sz="1400" b="0" dirty="0">
                <a:solidFill>
                  <a:srgbClr val="FFFFFF"/>
                </a:solidFill>
                <a:latin typeface="Calibri"/>
              </a:rPr>
              <a:t> </a:t>
            </a:r>
            <a:r>
              <a:rPr sz="1400" b="0" dirty="0" err="1">
                <a:solidFill>
                  <a:srgbClr val="FFFFFF"/>
                </a:solidFill>
                <a:latin typeface="Calibri"/>
              </a:rPr>
              <a:t>công</a:t>
            </a:r>
            <a:r>
              <a:rPr sz="1400" b="0" dirty="0">
                <a:solidFill>
                  <a:srgbClr val="FFFFFF"/>
                </a:solidFill>
                <a:latin typeface="Calibri"/>
              </a:rPr>
              <a:t> </a:t>
            </a:r>
            <a:r>
              <a:rPr sz="1400" b="0" dirty="0" err="1">
                <a:solidFill>
                  <a:srgbClr val="FFFFFF"/>
                </a:solidFill>
                <a:latin typeface="Calibri"/>
              </a:rPr>
              <a:t>nghệ</a:t>
            </a:r>
            <a:r>
              <a:rPr sz="1400" b="0" dirty="0">
                <a:solidFill>
                  <a:srgbClr val="FFFFFF"/>
                </a:solidFill>
                <a:latin typeface="Calibri"/>
              </a:rPr>
              <a:t> </a:t>
            </a:r>
            <a:r>
              <a:rPr sz="1400" b="0" dirty="0" err="1">
                <a:solidFill>
                  <a:srgbClr val="FFFFFF"/>
                </a:solidFill>
                <a:latin typeface="Calibri"/>
              </a:rPr>
              <a:t>số</a:t>
            </a:r>
            <a:r>
              <a:rPr sz="1400" b="0" dirty="0">
                <a:solidFill>
                  <a:srgbClr val="FFFFFF"/>
                </a:solidFill>
                <a:latin typeface="Calibri"/>
              </a:rPr>
              <a:t>  ·  GVGD: TS. Bùi Võ Quốc Bảo  ·  </a:t>
            </a:r>
            <a:r>
              <a:rPr sz="1400" b="0" dirty="0" err="1">
                <a:solidFill>
                  <a:srgbClr val="FFFFFF"/>
                </a:solidFill>
                <a:latin typeface="Calibri"/>
              </a:rPr>
              <a:t>Cần</a:t>
            </a:r>
            <a:r>
              <a:rPr sz="1400" b="0" dirty="0">
                <a:solidFill>
                  <a:srgbClr val="FFFFFF"/>
                </a:solidFill>
                <a:latin typeface="Calibri"/>
              </a:rPr>
              <a:t> Thơ, 10/2026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Tổng quan chủ đề</a:t>
            </a:r>
          </a:p>
        </p:txBody>
      </p:sp>
      <p:sp>
        <p:nvSpPr>
          <p:cNvPr id="3" name="Card lý do"/>
          <p:cNvSpPr/>
          <p:nvPr/>
        </p:nvSpPr>
        <p:spPr>
          <a:xfrm>
            <a:off x="548640" y="1280160"/>
            <a:ext cx="4297680" cy="4434840"/>
          </a:xfrm>
          <a:prstGeom prst="roundRect">
            <a:avLst>
              <a:gd name="adj" fmla="val 4000"/>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8680" y="1554480"/>
            <a:ext cx="640080" cy="640080"/>
          </a:xfrm>
          <a:prstGeom prst="ellips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ulb_w.png"/>
          <p:cNvPicPr>
            <a:picLocks noChangeAspect="1"/>
          </p:cNvPicPr>
          <p:nvPr/>
        </p:nvPicPr>
        <p:blipFill>
          <a:blip r:embed="rId3"/>
          <a:stretch>
            <a:fillRect/>
          </a:stretch>
        </p:blipFill>
        <p:spPr>
          <a:xfrm>
            <a:off x="1028700" y="1714500"/>
            <a:ext cx="320040" cy="320040"/>
          </a:xfrm>
          <a:prstGeom prst="rect">
            <a:avLst/>
          </a:prstGeom>
        </p:spPr>
      </p:pic>
      <p:sp>
        <p:nvSpPr>
          <p:cNvPr id="6" name="TextBox 5"/>
          <p:cNvSpPr txBox="1"/>
          <p:nvPr/>
        </p:nvSpPr>
        <p:spPr>
          <a:xfrm>
            <a:off x="868680" y="2331720"/>
            <a:ext cx="3657600" cy="457200"/>
          </a:xfrm>
          <a:prstGeom prst="rect">
            <a:avLst/>
          </a:prstGeom>
          <a:noFill/>
        </p:spPr>
        <p:txBody>
          <a:bodyPr wrap="square" lIns="0" tIns="0" rIns="0" bIns="0" anchor="t">
            <a:spAutoFit/>
          </a:bodyPr>
          <a:lstStyle/>
          <a:p>
            <a:pPr algn="l">
              <a:spcAft>
                <a:spcPts val="400"/>
              </a:spcAft>
            </a:pPr>
            <a:r>
              <a:rPr sz="2200" b="1">
                <a:solidFill>
                  <a:srgbClr val="FFFFFF"/>
                </a:solidFill>
                <a:latin typeface="Calibri"/>
              </a:rPr>
              <a:t>Vì sao chọn đề tài?</a:t>
            </a:r>
          </a:p>
        </p:txBody>
      </p:sp>
      <p:sp>
        <p:nvSpPr>
          <p:cNvPr id="7" name="TextBox 6"/>
          <p:cNvSpPr txBox="1"/>
          <p:nvPr/>
        </p:nvSpPr>
        <p:spPr>
          <a:xfrm>
            <a:off x="868680" y="2834640"/>
            <a:ext cx="3657600" cy="2743200"/>
          </a:xfrm>
          <a:prstGeom prst="rect">
            <a:avLst/>
          </a:prstGeom>
          <a:noFill/>
        </p:spPr>
        <p:txBody>
          <a:bodyPr wrap="square" lIns="0" tIns="0" rIns="0" bIns="0" anchor="t">
            <a:spAutoFit/>
          </a:bodyPr>
          <a:lstStyle/>
          <a:p>
            <a:pPr algn="l">
              <a:spcAft>
                <a:spcPts val="800"/>
              </a:spcAft>
            </a:pPr>
            <a:r>
              <a:rPr sz="1500" b="0">
                <a:solidFill>
                  <a:srgbClr val="FFFFFF"/>
                </a:solidFill>
                <a:latin typeface="Calibri"/>
              </a:rPr>
              <a:t>AI có mặt trong ChatGPT, Google Dịch, ứng dụng học tập và nền tảng giải trí.</a:t>
            </a:r>
          </a:p>
          <a:p>
            <a:pPr algn="l">
              <a:spcAft>
                <a:spcPts val="800"/>
              </a:spcAft>
            </a:pPr>
            <a:r>
              <a:rPr sz="1500" b="0">
                <a:solidFill>
                  <a:srgbClr val="FFFFFF"/>
                </a:solidFill>
                <a:latin typeface="Calibri"/>
              </a:rPr>
              <a:t>Nhưng AI không luôn chính xác: dùng mà không kiểm tra dễ gặp thông tin sai lệch hoặc phụ thuộc quá mức.</a:t>
            </a:r>
          </a:p>
          <a:p>
            <a:pPr algn="l">
              <a:spcAft>
                <a:spcPts val="800"/>
              </a:spcAft>
            </a:pPr>
            <a:r>
              <a:rPr sz="1500" b="0">
                <a:solidFill>
                  <a:srgbClr val="FFFFFF"/>
                </a:solidFill>
                <a:latin typeface="Calibri"/>
              </a:rPr>
              <a:t>Phạm vi: một số công cụ quen thuộc, nghiên cứu qua tài liệu, không đi sâu kỹ thuật lập trình.</a:t>
            </a:r>
          </a:p>
        </p:txBody>
      </p:sp>
      <p:sp>
        <p:nvSpPr>
          <p:cNvPr id="8" name="TextBox 7"/>
          <p:cNvSpPr txBox="1"/>
          <p:nvPr/>
        </p:nvSpPr>
        <p:spPr>
          <a:xfrm>
            <a:off x="5212080" y="1280160"/>
            <a:ext cx="6400800" cy="411480"/>
          </a:xfrm>
          <a:prstGeom prst="rect">
            <a:avLst/>
          </a:prstGeom>
          <a:noFill/>
        </p:spPr>
        <p:txBody>
          <a:bodyPr wrap="square" lIns="0" tIns="0" rIns="0" bIns="0" anchor="t">
            <a:spAutoFit/>
          </a:bodyPr>
          <a:lstStyle/>
          <a:p>
            <a:pPr algn="l">
              <a:spcAft>
                <a:spcPts val="400"/>
              </a:spcAft>
            </a:pPr>
            <a:r>
              <a:rPr sz="2200" b="1">
                <a:solidFill>
                  <a:srgbClr val="1F5CA9"/>
                </a:solidFill>
                <a:latin typeface="Calibri"/>
              </a:rPr>
              <a:t>Mục tiêu nghiên cứu</a:t>
            </a:r>
          </a:p>
        </p:txBody>
      </p:sp>
      <p:sp>
        <p:nvSpPr>
          <p:cNvPr id="9" name="Rounded Rectangle 8"/>
          <p:cNvSpPr/>
          <p:nvPr/>
        </p:nvSpPr>
        <p:spPr>
          <a:xfrm>
            <a:off x="5212080" y="1828800"/>
            <a:ext cx="6428232" cy="658368"/>
          </a:xfrm>
          <a:prstGeom prst="roundRect">
            <a:avLst>
              <a:gd name="adj" fmla="val 1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321808" y="1911095"/>
            <a:ext cx="493776" cy="493776"/>
          </a:xfrm>
          <a:prstGeom prst="ellips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11" name="TextBox 10"/>
          <p:cNvSpPr txBox="1"/>
          <p:nvPr/>
        </p:nvSpPr>
        <p:spPr>
          <a:xfrm>
            <a:off x="5989320" y="1828800"/>
            <a:ext cx="5486400" cy="658368"/>
          </a:xfrm>
          <a:prstGeom prst="rect">
            <a:avLst/>
          </a:prstGeom>
          <a:noFill/>
        </p:spPr>
        <p:txBody>
          <a:bodyPr wrap="square" lIns="0" tIns="0" rIns="0" bIns="0" anchor="ctr">
            <a:spAutoFit/>
          </a:bodyPr>
          <a:lstStyle/>
          <a:p>
            <a:pPr algn="l">
              <a:spcAft>
                <a:spcPts val="400"/>
              </a:spcAft>
            </a:pPr>
            <a:r>
              <a:rPr sz="1500" b="0">
                <a:solidFill>
                  <a:srgbClr val="1F2937"/>
                </a:solidFill>
                <a:latin typeface="Calibri"/>
              </a:rPr>
              <a:t>Hiểu khái niệm AI và cách AI có mặt trong công cụ quen thuộc</a:t>
            </a:r>
          </a:p>
        </p:txBody>
      </p:sp>
      <p:sp>
        <p:nvSpPr>
          <p:cNvPr id="12" name="Rounded Rectangle 11"/>
          <p:cNvSpPr/>
          <p:nvPr/>
        </p:nvSpPr>
        <p:spPr>
          <a:xfrm>
            <a:off x="5212080" y="2606040"/>
            <a:ext cx="6428232" cy="658368"/>
          </a:xfrm>
          <a:prstGeom prst="roundRect">
            <a:avLst>
              <a:gd name="adj" fmla="val 1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321808" y="2688336"/>
            <a:ext cx="493776" cy="493776"/>
          </a:xfrm>
          <a:prstGeom prst="ellips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4" name="TextBox 13"/>
          <p:cNvSpPr txBox="1"/>
          <p:nvPr/>
        </p:nvSpPr>
        <p:spPr>
          <a:xfrm>
            <a:off x="5989320" y="2606040"/>
            <a:ext cx="5486400" cy="658368"/>
          </a:xfrm>
          <a:prstGeom prst="rect">
            <a:avLst/>
          </a:prstGeom>
          <a:noFill/>
        </p:spPr>
        <p:txBody>
          <a:bodyPr wrap="square" lIns="0" tIns="0" rIns="0" bIns="0" anchor="ctr">
            <a:spAutoFit/>
          </a:bodyPr>
          <a:lstStyle/>
          <a:p>
            <a:pPr algn="l">
              <a:spcAft>
                <a:spcPts val="400"/>
              </a:spcAft>
            </a:pPr>
            <a:r>
              <a:rPr sz="1500" b="0">
                <a:solidFill>
                  <a:srgbClr val="1F2937"/>
                </a:solidFill>
                <a:latin typeface="Calibri"/>
              </a:rPr>
              <a:t>Tìm hiểu ứng dụng AI trong học tập, tìm kiếm, dịch thuật, giải trí</a:t>
            </a:r>
          </a:p>
        </p:txBody>
      </p:sp>
      <p:sp>
        <p:nvSpPr>
          <p:cNvPr id="15" name="Rounded Rectangle 14"/>
          <p:cNvSpPr/>
          <p:nvPr/>
        </p:nvSpPr>
        <p:spPr>
          <a:xfrm>
            <a:off x="5212080" y="3383280"/>
            <a:ext cx="6428232" cy="658368"/>
          </a:xfrm>
          <a:prstGeom prst="roundRect">
            <a:avLst>
              <a:gd name="adj" fmla="val 1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321808" y="3465576"/>
            <a:ext cx="493776" cy="493776"/>
          </a:xfrm>
          <a:prstGeom prst="ellips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7" name="TextBox 16"/>
          <p:cNvSpPr txBox="1"/>
          <p:nvPr/>
        </p:nvSpPr>
        <p:spPr>
          <a:xfrm>
            <a:off x="5989320" y="3383280"/>
            <a:ext cx="5486400" cy="658368"/>
          </a:xfrm>
          <a:prstGeom prst="rect">
            <a:avLst/>
          </a:prstGeom>
          <a:noFill/>
        </p:spPr>
        <p:txBody>
          <a:bodyPr wrap="square" lIns="0" tIns="0" rIns="0" bIns="0" anchor="ctr">
            <a:spAutoFit/>
          </a:bodyPr>
          <a:lstStyle/>
          <a:p>
            <a:pPr algn="l">
              <a:spcAft>
                <a:spcPts val="400"/>
              </a:spcAft>
            </a:pPr>
            <a:r>
              <a:rPr sz="1500" b="0">
                <a:solidFill>
                  <a:srgbClr val="1F2937"/>
                </a:solidFill>
                <a:latin typeface="Calibri"/>
              </a:rPr>
              <a:t>Nêu lợi ích: hỗ trợ tìm thông tin, tiết kiệm thời gian</a:t>
            </a:r>
          </a:p>
        </p:txBody>
      </p:sp>
      <p:sp>
        <p:nvSpPr>
          <p:cNvPr id="18" name="Rounded Rectangle 17"/>
          <p:cNvSpPr/>
          <p:nvPr/>
        </p:nvSpPr>
        <p:spPr>
          <a:xfrm>
            <a:off x="5212080" y="4160520"/>
            <a:ext cx="6428232" cy="658368"/>
          </a:xfrm>
          <a:prstGeom prst="roundRect">
            <a:avLst>
              <a:gd name="adj" fmla="val 1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321808" y="4242816"/>
            <a:ext cx="493776" cy="493776"/>
          </a:xfrm>
          <a:prstGeom prst="ellips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20" name="TextBox 19"/>
          <p:cNvSpPr txBox="1"/>
          <p:nvPr/>
        </p:nvSpPr>
        <p:spPr>
          <a:xfrm>
            <a:off x="5989320" y="4160520"/>
            <a:ext cx="5486400" cy="658368"/>
          </a:xfrm>
          <a:prstGeom prst="rect">
            <a:avLst/>
          </a:prstGeom>
          <a:noFill/>
        </p:spPr>
        <p:txBody>
          <a:bodyPr wrap="square" lIns="0" tIns="0" rIns="0" bIns="0" anchor="ctr">
            <a:spAutoFit/>
          </a:bodyPr>
          <a:lstStyle/>
          <a:p>
            <a:pPr algn="l">
              <a:spcAft>
                <a:spcPts val="400"/>
              </a:spcAft>
            </a:pPr>
            <a:r>
              <a:rPr sz="1500" b="0">
                <a:solidFill>
                  <a:srgbClr val="1F2937"/>
                </a:solidFill>
                <a:latin typeface="Calibri"/>
              </a:rPr>
              <a:t>Chỉ ra hạn chế: thông tin chưa chính xác, nguy cơ phụ thuộc</a:t>
            </a:r>
          </a:p>
        </p:txBody>
      </p:sp>
      <p:sp>
        <p:nvSpPr>
          <p:cNvPr id="21" name="Rounded Rectangle 20"/>
          <p:cNvSpPr/>
          <p:nvPr/>
        </p:nvSpPr>
        <p:spPr>
          <a:xfrm>
            <a:off x="5212080" y="4937760"/>
            <a:ext cx="6428232" cy="658368"/>
          </a:xfrm>
          <a:prstGeom prst="roundRect">
            <a:avLst>
              <a:gd name="adj" fmla="val 1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321808" y="5020056"/>
            <a:ext cx="493776" cy="493776"/>
          </a:xfrm>
          <a:prstGeom prst="ellips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5</a:t>
            </a:r>
          </a:p>
        </p:txBody>
      </p:sp>
      <p:sp>
        <p:nvSpPr>
          <p:cNvPr id="23" name="TextBox 22"/>
          <p:cNvSpPr txBox="1"/>
          <p:nvPr/>
        </p:nvSpPr>
        <p:spPr>
          <a:xfrm>
            <a:off x="5989320" y="4937760"/>
            <a:ext cx="5486400" cy="658368"/>
          </a:xfrm>
          <a:prstGeom prst="rect">
            <a:avLst/>
          </a:prstGeom>
          <a:noFill/>
        </p:spPr>
        <p:txBody>
          <a:bodyPr wrap="square" lIns="0" tIns="0" rIns="0" bIns="0" anchor="ctr">
            <a:spAutoFit/>
          </a:bodyPr>
          <a:lstStyle/>
          <a:p>
            <a:pPr algn="l">
              <a:spcAft>
                <a:spcPts val="400"/>
              </a:spcAft>
            </a:pPr>
            <a:r>
              <a:rPr sz="1500" b="0">
                <a:solidFill>
                  <a:srgbClr val="1F2937"/>
                </a:solidFill>
                <a:latin typeface="Calibri"/>
              </a:rPr>
              <a:t>Đề xuất cách dùng hợp lý: kiểm tra thông tin, bảo vệ dữ liệu cá nhân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dirty="0"/>
              <a:t>AI </a:t>
            </a:r>
            <a:r>
              <a:rPr sz="3200" dirty="0" err="1"/>
              <a:t>là</a:t>
            </a:r>
            <a:r>
              <a:rPr sz="3200" dirty="0"/>
              <a:t> </a:t>
            </a:r>
            <a:r>
              <a:rPr sz="3200" dirty="0" err="1"/>
              <a:t>gì</a:t>
            </a:r>
            <a:r>
              <a:rPr sz="3200" dirty="0"/>
              <a:t>? </a:t>
            </a:r>
            <a:r>
              <a:rPr sz="3200" dirty="0" err="1"/>
              <a:t>Bốn</a:t>
            </a:r>
            <a:r>
              <a:rPr sz="3200" dirty="0"/>
              <a:t> </a:t>
            </a:r>
            <a:r>
              <a:rPr sz="3200" dirty="0" err="1"/>
              <a:t>công</a:t>
            </a:r>
            <a:r>
              <a:rPr sz="3200" dirty="0"/>
              <a:t> </a:t>
            </a:r>
            <a:r>
              <a:rPr sz="3200" dirty="0" err="1"/>
              <a:t>nghệ</a:t>
            </a:r>
            <a:r>
              <a:rPr sz="3200" dirty="0"/>
              <a:t> AI </a:t>
            </a:r>
            <a:r>
              <a:rPr sz="3200" dirty="0" err="1"/>
              <a:t>phổ</a:t>
            </a:r>
            <a:r>
              <a:rPr sz="3200" dirty="0"/>
              <a:t> </a:t>
            </a:r>
            <a:r>
              <a:rPr sz="3200" dirty="0" err="1"/>
              <a:t>biến</a:t>
            </a:r>
            <a:endParaRPr sz="3200" dirty="0"/>
          </a:p>
        </p:txBody>
      </p:sp>
      <p:sp>
        <p:nvSpPr>
          <p:cNvPr id="3" name="Rounded Rectangle 2"/>
          <p:cNvSpPr/>
          <p:nvPr/>
        </p:nvSpPr>
        <p:spPr>
          <a:xfrm>
            <a:off x="548640" y="1280160"/>
            <a:ext cx="11091672" cy="9601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 y="1435608"/>
            <a:ext cx="640080" cy="64008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robot_w.png"/>
          <p:cNvPicPr>
            <a:picLocks noChangeAspect="1"/>
          </p:cNvPicPr>
          <p:nvPr/>
        </p:nvPicPr>
        <p:blipFill>
          <a:blip r:embed="rId3"/>
          <a:stretch>
            <a:fillRect/>
          </a:stretch>
        </p:blipFill>
        <p:spPr>
          <a:xfrm>
            <a:off x="937259" y="1595628"/>
            <a:ext cx="320040" cy="320040"/>
          </a:xfrm>
          <a:prstGeom prst="rect">
            <a:avLst/>
          </a:prstGeom>
        </p:spPr>
      </p:pic>
      <p:sp>
        <p:nvSpPr>
          <p:cNvPr id="6" name="TextBox 5"/>
          <p:cNvSpPr txBox="1"/>
          <p:nvPr/>
        </p:nvSpPr>
        <p:spPr>
          <a:xfrm>
            <a:off x="1645920" y="1280160"/>
            <a:ext cx="9784080" cy="960120"/>
          </a:xfrm>
          <a:prstGeom prst="rect">
            <a:avLst/>
          </a:prstGeom>
          <a:noFill/>
        </p:spPr>
        <p:txBody>
          <a:bodyPr wrap="square" lIns="0" tIns="0" rIns="0" bIns="0" anchor="ctr">
            <a:spAutoFit/>
          </a:bodyPr>
          <a:lstStyle/>
          <a:p>
            <a:pPr algn="l">
              <a:spcAft>
                <a:spcPts val="400"/>
              </a:spcAft>
            </a:pPr>
            <a:r>
              <a:rPr sz="1600" b="0">
                <a:solidFill>
                  <a:srgbClr val="1F2937"/>
                </a:solidFill>
                <a:latin typeface="Calibri"/>
              </a:rPr>
              <a:t>Trí tuệ nhân tạo (AI) là công nghệ giúp máy tính làm những việc thường cần trí thông minh của con người: học hỏi, phân tích thông tin, nhận diện hình ảnh và giải quyết vấn đề.</a:t>
            </a:r>
          </a:p>
        </p:txBody>
      </p:sp>
      <p:sp>
        <p:nvSpPr>
          <p:cNvPr id="7" name="Rounded Rectangle 6"/>
          <p:cNvSpPr/>
          <p:nvPr/>
        </p:nvSpPr>
        <p:spPr>
          <a:xfrm>
            <a:off x="548640" y="2468880"/>
            <a:ext cx="2606040" cy="32918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31520" y="2633472"/>
            <a:ext cx="566928" cy="566928"/>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rain_w.png"/>
          <p:cNvPicPr>
            <a:picLocks noChangeAspect="1"/>
          </p:cNvPicPr>
          <p:nvPr/>
        </p:nvPicPr>
        <p:blipFill>
          <a:blip r:embed="rId4"/>
          <a:stretch>
            <a:fillRect/>
          </a:stretch>
        </p:blipFill>
        <p:spPr>
          <a:xfrm>
            <a:off x="873252" y="2775203"/>
            <a:ext cx="283464" cy="283464"/>
          </a:xfrm>
          <a:prstGeom prst="rect">
            <a:avLst/>
          </a:prstGeom>
        </p:spPr>
      </p:pic>
      <p:sp>
        <p:nvSpPr>
          <p:cNvPr id="10" name="TextBox 9"/>
          <p:cNvSpPr txBox="1"/>
          <p:nvPr/>
        </p:nvSpPr>
        <p:spPr>
          <a:xfrm>
            <a:off x="731520" y="3291840"/>
            <a:ext cx="2286000" cy="640080"/>
          </a:xfrm>
          <a:prstGeom prst="rect">
            <a:avLst/>
          </a:prstGeom>
          <a:noFill/>
        </p:spPr>
        <p:txBody>
          <a:bodyPr wrap="square" lIns="0" tIns="0" rIns="0" bIns="0" anchor="t">
            <a:spAutoFit/>
          </a:bodyPr>
          <a:lstStyle/>
          <a:p>
            <a:pPr algn="l">
              <a:spcAft>
                <a:spcPts val="400"/>
              </a:spcAft>
            </a:pPr>
            <a:r>
              <a:rPr sz="1700" b="1">
                <a:solidFill>
                  <a:srgbClr val="1F5CA9"/>
                </a:solidFill>
                <a:latin typeface="Calibri"/>
              </a:rPr>
              <a:t>Học máy</a:t>
            </a:r>
          </a:p>
        </p:txBody>
      </p:sp>
      <p:sp>
        <p:nvSpPr>
          <p:cNvPr id="11" name="TextBox 10"/>
          <p:cNvSpPr txBox="1"/>
          <p:nvPr/>
        </p:nvSpPr>
        <p:spPr>
          <a:xfrm>
            <a:off x="731520" y="3931920"/>
            <a:ext cx="2286000" cy="1005840"/>
          </a:xfrm>
          <a:prstGeom prst="rect">
            <a:avLst/>
          </a:prstGeom>
          <a:noFill/>
        </p:spPr>
        <p:txBody>
          <a:bodyPr wrap="square" lIns="0" tIns="0" rIns="0" bIns="0" anchor="t">
            <a:spAutoFit/>
          </a:bodyPr>
          <a:lstStyle/>
          <a:p>
            <a:pPr algn="l">
              <a:spcAft>
                <a:spcPts val="300"/>
              </a:spcAft>
            </a:pPr>
            <a:r>
              <a:rPr sz="1400" b="0">
                <a:solidFill>
                  <a:srgbClr val="1F2937"/>
                </a:solidFill>
                <a:latin typeface="Calibri"/>
              </a:rPr>
              <a:t>Máy tự học từ dữ liệu để dự đoán, phân loại.</a:t>
            </a:r>
          </a:p>
          <a:p>
            <a:pPr algn="l">
              <a:spcAft>
                <a:spcPts val="300"/>
              </a:spcAft>
            </a:pPr>
            <a:r>
              <a:rPr sz="1400" b="0">
                <a:solidFill>
                  <a:srgbClr val="1F2937"/>
                </a:solidFill>
                <a:latin typeface="Calibri"/>
              </a:rPr>
              <a:t>Ví dụ: lọc thư rác, phân loại ảnh, gợi ý nội dung.</a:t>
            </a:r>
          </a:p>
        </p:txBody>
      </p:sp>
      <p:sp>
        <p:nvSpPr>
          <p:cNvPr id="12" name="TextBox 11"/>
          <p:cNvSpPr txBox="1"/>
          <p:nvPr/>
        </p:nvSpPr>
        <p:spPr>
          <a:xfrm>
            <a:off x="731520" y="4983480"/>
            <a:ext cx="2286000" cy="731520"/>
          </a:xfrm>
          <a:prstGeom prst="rect">
            <a:avLst/>
          </a:prstGeom>
          <a:noFill/>
        </p:spPr>
        <p:txBody>
          <a:bodyPr wrap="square" lIns="0" tIns="0" rIns="0" bIns="0" anchor="t">
            <a:spAutoFit/>
          </a:bodyPr>
          <a:lstStyle/>
          <a:p>
            <a:pPr algn="l">
              <a:spcAft>
                <a:spcPts val="400"/>
              </a:spcAft>
            </a:pPr>
            <a:r>
              <a:rPr sz="1400" b="1">
                <a:solidFill>
                  <a:srgbClr val="E08A00"/>
                </a:solidFill>
                <a:latin typeface="Calibri"/>
              </a:rPr>
              <a:t>Lưu ý: </a:t>
            </a:r>
            <a:r>
              <a:rPr sz="1400" b="0">
                <a:solidFill>
                  <a:srgbClr val="1F2937"/>
                </a:solidFill>
                <a:latin typeface="Calibri"/>
              </a:rPr>
              <a:t>Dữ liệu sai hoặc thiếu thì kết quả cũng lệch.</a:t>
            </a:r>
          </a:p>
        </p:txBody>
      </p:sp>
      <p:sp>
        <p:nvSpPr>
          <p:cNvPr id="13" name="Rounded Rectangle 12"/>
          <p:cNvSpPr/>
          <p:nvPr/>
        </p:nvSpPr>
        <p:spPr>
          <a:xfrm>
            <a:off x="3376879" y="2468880"/>
            <a:ext cx="2606040" cy="32918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59759" y="2633472"/>
            <a:ext cx="566928" cy="566928"/>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ang_w.png"/>
          <p:cNvPicPr>
            <a:picLocks noChangeAspect="1"/>
          </p:cNvPicPr>
          <p:nvPr/>
        </p:nvPicPr>
        <p:blipFill>
          <a:blip r:embed="rId5"/>
          <a:stretch>
            <a:fillRect/>
          </a:stretch>
        </p:blipFill>
        <p:spPr>
          <a:xfrm>
            <a:off x="3701491" y="2775203"/>
            <a:ext cx="283464" cy="283464"/>
          </a:xfrm>
          <a:prstGeom prst="rect">
            <a:avLst/>
          </a:prstGeom>
        </p:spPr>
      </p:pic>
      <p:sp>
        <p:nvSpPr>
          <p:cNvPr id="16" name="TextBox 15"/>
          <p:cNvSpPr txBox="1"/>
          <p:nvPr/>
        </p:nvSpPr>
        <p:spPr>
          <a:xfrm>
            <a:off x="3559759" y="3291840"/>
            <a:ext cx="2286000" cy="640080"/>
          </a:xfrm>
          <a:prstGeom prst="rect">
            <a:avLst/>
          </a:prstGeom>
          <a:noFill/>
        </p:spPr>
        <p:txBody>
          <a:bodyPr wrap="square" lIns="0" tIns="0" rIns="0" bIns="0" anchor="t">
            <a:spAutoFit/>
          </a:bodyPr>
          <a:lstStyle/>
          <a:p>
            <a:pPr algn="l">
              <a:spcAft>
                <a:spcPts val="400"/>
              </a:spcAft>
            </a:pPr>
            <a:r>
              <a:rPr sz="1700" b="1">
                <a:solidFill>
                  <a:srgbClr val="1F5CA9"/>
                </a:solidFill>
                <a:latin typeface="Calibri"/>
              </a:rPr>
              <a:t>Xử lý ngôn ngữ tự nhiên</a:t>
            </a:r>
          </a:p>
        </p:txBody>
      </p:sp>
      <p:sp>
        <p:nvSpPr>
          <p:cNvPr id="17" name="TextBox 16"/>
          <p:cNvSpPr txBox="1"/>
          <p:nvPr/>
        </p:nvSpPr>
        <p:spPr>
          <a:xfrm>
            <a:off x="3559759" y="3931920"/>
            <a:ext cx="2286000" cy="1005840"/>
          </a:xfrm>
          <a:prstGeom prst="rect">
            <a:avLst/>
          </a:prstGeom>
          <a:noFill/>
        </p:spPr>
        <p:txBody>
          <a:bodyPr wrap="square" lIns="0" tIns="0" rIns="0" bIns="0" anchor="t">
            <a:spAutoFit/>
          </a:bodyPr>
          <a:lstStyle/>
          <a:p>
            <a:pPr algn="l">
              <a:spcAft>
                <a:spcPts val="300"/>
              </a:spcAft>
            </a:pPr>
            <a:r>
              <a:rPr sz="1400" b="0">
                <a:solidFill>
                  <a:srgbClr val="1F2937"/>
                </a:solidFill>
                <a:latin typeface="Calibri"/>
              </a:rPr>
              <a:t>Giúp máy hiểu và làm việc với ngôn ngữ con người.</a:t>
            </a:r>
          </a:p>
          <a:p>
            <a:pPr algn="l">
              <a:spcAft>
                <a:spcPts val="300"/>
              </a:spcAft>
            </a:pPr>
            <a:r>
              <a:rPr sz="1400" b="0">
                <a:solidFill>
                  <a:srgbClr val="1F2937"/>
                </a:solidFill>
                <a:latin typeface="Calibri"/>
              </a:rPr>
              <a:t>Ví dụ: dịch trực tuyến, nhận diện giọng nói, chat.</a:t>
            </a:r>
          </a:p>
        </p:txBody>
      </p:sp>
      <p:sp>
        <p:nvSpPr>
          <p:cNvPr id="18" name="TextBox 17"/>
          <p:cNvSpPr txBox="1"/>
          <p:nvPr/>
        </p:nvSpPr>
        <p:spPr>
          <a:xfrm>
            <a:off x="3559759" y="4983480"/>
            <a:ext cx="2286000" cy="731520"/>
          </a:xfrm>
          <a:prstGeom prst="rect">
            <a:avLst/>
          </a:prstGeom>
          <a:noFill/>
        </p:spPr>
        <p:txBody>
          <a:bodyPr wrap="square" lIns="0" tIns="0" rIns="0" bIns="0" anchor="t">
            <a:spAutoFit/>
          </a:bodyPr>
          <a:lstStyle/>
          <a:p>
            <a:pPr algn="l">
              <a:spcAft>
                <a:spcPts val="400"/>
              </a:spcAft>
            </a:pPr>
            <a:r>
              <a:rPr sz="1400" b="1">
                <a:solidFill>
                  <a:srgbClr val="E08A00"/>
                </a:solidFill>
                <a:latin typeface="Calibri"/>
              </a:rPr>
              <a:t>Lưu ý: </a:t>
            </a:r>
            <a:r>
              <a:rPr sz="1400" b="0">
                <a:solidFill>
                  <a:srgbClr val="1F2937"/>
                </a:solidFill>
                <a:latin typeface="Calibri"/>
              </a:rPr>
              <a:t>Câu từ phụ thuộc ngữ cảnh nên AI đôi khi hiểu sai ý.</a:t>
            </a:r>
          </a:p>
        </p:txBody>
      </p:sp>
      <p:sp>
        <p:nvSpPr>
          <p:cNvPr id="19" name="Rounded Rectangle 18"/>
          <p:cNvSpPr/>
          <p:nvPr/>
        </p:nvSpPr>
        <p:spPr>
          <a:xfrm>
            <a:off x="6205118" y="2468880"/>
            <a:ext cx="2606040" cy="32918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87998" y="2633472"/>
            <a:ext cx="566928" cy="566928"/>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magic_w.png"/>
          <p:cNvPicPr>
            <a:picLocks noChangeAspect="1"/>
          </p:cNvPicPr>
          <p:nvPr/>
        </p:nvPicPr>
        <p:blipFill>
          <a:blip r:embed="rId6"/>
          <a:stretch>
            <a:fillRect/>
          </a:stretch>
        </p:blipFill>
        <p:spPr>
          <a:xfrm>
            <a:off x="6529730" y="2775203"/>
            <a:ext cx="283464" cy="283464"/>
          </a:xfrm>
          <a:prstGeom prst="rect">
            <a:avLst/>
          </a:prstGeom>
        </p:spPr>
      </p:pic>
      <p:sp>
        <p:nvSpPr>
          <p:cNvPr id="22" name="TextBox 21"/>
          <p:cNvSpPr txBox="1"/>
          <p:nvPr/>
        </p:nvSpPr>
        <p:spPr>
          <a:xfrm>
            <a:off x="6387998" y="3291840"/>
            <a:ext cx="2286000" cy="640080"/>
          </a:xfrm>
          <a:prstGeom prst="rect">
            <a:avLst/>
          </a:prstGeom>
          <a:noFill/>
        </p:spPr>
        <p:txBody>
          <a:bodyPr wrap="square" lIns="0" tIns="0" rIns="0" bIns="0" anchor="t">
            <a:spAutoFit/>
          </a:bodyPr>
          <a:lstStyle/>
          <a:p>
            <a:pPr algn="l">
              <a:spcAft>
                <a:spcPts val="400"/>
              </a:spcAft>
            </a:pPr>
            <a:r>
              <a:rPr sz="1700" b="1">
                <a:solidFill>
                  <a:srgbClr val="1F5CA9"/>
                </a:solidFill>
                <a:latin typeface="Calibri"/>
              </a:rPr>
              <a:t>AI tạo sinh</a:t>
            </a:r>
          </a:p>
        </p:txBody>
      </p:sp>
      <p:sp>
        <p:nvSpPr>
          <p:cNvPr id="23" name="TextBox 22"/>
          <p:cNvSpPr txBox="1"/>
          <p:nvPr/>
        </p:nvSpPr>
        <p:spPr>
          <a:xfrm>
            <a:off x="6387998" y="3931920"/>
            <a:ext cx="2286000" cy="1005840"/>
          </a:xfrm>
          <a:prstGeom prst="rect">
            <a:avLst/>
          </a:prstGeom>
          <a:noFill/>
        </p:spPr>
        <p:txBody>
          <a:bodyPr wrap="square" lIns="0" tIns="0" rIns="0" bIns="0" anchor="t">
            <a:spAutoFit/>
          </a:bodyPr>
          <a:lstStyle/>
          <a:p>
            <a:pPr algn="l">
              <a:spcAft>
                <a:spcPts val="300"/>
              </a:spcAft>
            </a:pPr>
            <a:r>
              <a:rPr sz="1400" b="0">
                <a:solidFill>
                  <a:srgbClr val="1F2937"/>
                </a:solidFill>
                <a:latin typeface="Calibri"/>
              </a:rPr>
              <a:t>Tự tạo văn bản, hình ảnh, âm thanh theo yêu cầu.</a:t>
            </a:r>
          </a:p>
          <a:p>
            <a:pPr algn="l">
              <a:spcAft>
                <a:spcPts val="300"/>
              </a:spcAft>
            </a:pPr>
            <a:r>
              <a:rPr sz="1400" b="0">
                <a:solidFill>
                  <a:srgbClr val="1F2937"/>
                </a:solidFill>
                <a:latin typeface="Calibri"/>
              </a:rPr>
              <a:t>Ví dụ: ChatGPT.</a:t>
            </a:r>
          </a:p>
        </p:txBody>
      </p:sp>
      <p:sp>
        <p:nvSpPr>
          <p:cNvPr id="24" name="TextBox 23"/>
          <p:cNvSpPr txBox="1"/>
          <p:nvPr/>
        </p:nvSpPr>
        <p:spPr>
          <a:xfrm>
            <a:off x="6387998" y="4983480"/>
            <a:ext cx="2286000" cy="731520"/>
          </a:xfrm>
          <a:prstGeom prst="rect">
            <a:avLst/>
          </a:prstGeom>
          <a:noFill/>
        </p:spPr>
        <p:txBody>
          <a:bodyPr wrap="square" lIns="0" tIns="0" rIns="0" bIns="0" anchor="t">
            <a:spAutoFit/>
          </a:bodyPr>
          <a:lstStyle/>
          <a:p>
            <a:pPr algn="l">
              <a:spcAft>
                <a:spcPts val="400"/>
              </a:spcAft>
            </a:pPr>
            <a:r>
              <a:rPr sz="1400" b="1">
                <a:solidFill>
                  <a:srgbClr val="E08A00"/>
                </a:solidFill>
                <a:latin typeface="Calibri"/>
              </a:rPr>
              <a:t>Lưu ý: </a:t>
            </a:r>
            <a:r>
              <a:rPr sz="1400" b="0">
                <a:solidFill>
                  <a:srgbClr val="1F2937"/>
                </a:solidFill>
                <a:latin typeface="Calibri"/>
              </a:rPr>
              <a:t>Dễ đưa tin sai, thiếu nguồn kiểm chứng.</a:t>
            </a:r>
          </a:p>
        </p:txBody>
      </p:sp>
      <p:sp>
        <p:nvSpPr>
          <p:cNvPr id="25" name="Rounded Rectangle 24"/>
          <p:cNvSpPr/>
          <p:nvPr/>
        </p:nvSpPr>
        <p:spPr>
          <a:xfrm>
            <a:off x="9033357" y="2468880"/>
            <a:ext cx="2606040" cy="32918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216237" y="2633472"/>
            <a:ext cx="566928" cy="566928"/>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thumb_w.png"/>
          <p:cNvPicPr>
            <a:picLocks noChangeAspect="1"/>
          </p:cNvPicPr>
          <p:nvPr/>
        </p:nvPicPr>
        <p:blipFill>
          <a:blip r:embed="rId7"/>
          <a:stretch>
            <a:fillRect/>
          </a:stretch>
        </p:blipFill>
        <p:spPr>
          <a:xfrm>
            <a:off x="9357969" y="2775203"/>
            <a:ext cx="283464" cy="283464"/>
          </a:xfrm>
          <a:prstGeom prst="rect">
            <a:avLst/>
          </a:prstGeom>
        </p:spPr>
      </p:pic>
      <p:sp>
        <p:nvSpPr>
          <p:cNvPr id="28" name="TextBox 27"/>
          <p:cNvSpPr txBox="1"/>
          <p:nvPr/>
        </p:nvSpPr>
        <p:spPr>
          <a:xfrm>
            <a:off x="9216237" y="3291840"/>
            <a:ext cx="2286000" cy="640080"/>
          </a:xfrm>
          <a:prstGeom prst="rect">
            <a:avLst/>
          </a:prstGeom>
          <a:noFill/>
        </p:spPr>
        <p:txBody>
          <a:bodyPr wrap="square" lIns="0" tIns="0" rIns="0" bIns="0" anchor="t">
            <a:spAutoFit/>
          </a:bodyPr>
          <a:lstStyle/>
          <a:p>
            <a:pPr algn="l">
              <a:spcAft>
                <a:spcPts val="400"/>
              </a:spcAft>
            </a:pPr>
            <a:r>
              <a:rPr sz="1700" b="1">
                <a:solidFill>
                  <a:srgbClr val="1F5CA9"/>
                </a:solidFill>
                <a:latin typeface="Calibri"/>
              </a:rPr>
              <a:t>Hệ thống gợi ý</a:t>
            </a:r>
          </a:p>
        </p:txBody>
      </p:sp>
      <p:sp>
        <p:nvSpPr>
          <p:cNvPr id="29" name="TextBox 28"/>
          <p:cNvSpPr txBox="1"/>
          <p:nvPr/>
        </p:nvSpPr>
        <p:spPr>
          <a:xfrm>
            <a:off x="9216237" y="3931920"/>
            <a:ext cx="2286000" cy="1005840"/>
          </a:xfrm>
          <a:prstGeom prst="rect">
            <a:avLst/>
          </a:prstGeom>
          <a:noFill/>
        </p:spPr>
        <p:txBody>
          <a:bodyPr wrap="square" lIns="0" tIns="0" rIns="0" bIns="0" anchor="t">
            <a:spAutoFit/>
          </a:bodyPr>
          <a:lstStyle/>
          <a:p>
            <a:pPr algn="l">
              <a:spcAft>
                <a:spcPts val="300"/>
              </a:spcAft>
            </a:pPr>
            <a:r>
              <a:rPr sz="1400" b="0">
                <a:solidFill>
                  <a:srgbClr val="1F2937"/>
                </a:solidFill>
                <a:latin typeface="Calibri"/>
              </a:rPr>
              <a:t>Đoán sở thích từ lịch sử tìm kiếm, lượt xem, tương tác.</a:t>
            </a:r>
          </a:p>
          <a:p>
            <a:pPr algn="l">
              <a:spcAft>
                <a:spcPts val="300"/>
              </a:spcAft>
            </a:pPr>
            <a:r>
              <a:rPr sz="1400" b="0">
                <a:solidFill>
                  <a:srgbClr val="1F2937"/>
                </a:solidFill>
                <a:latin typeface="Calibri"/>
              </a:rPr>
              <a:t>Ví dụ: YouTube, TikTok, Shopee.</a:t>
            </a:r>
          </a:p>
        </p:txBody>
      </p:sp>
      <p:sp>
        <p:nvSpPr>
          <p:cNvPr id="30" name="TextBox 29"/>
          <p:cNvSpPr txBox="1"/>
          <p:nvPr/>
        </p:nvSpPr>
        <p:spPr>
          <a:xfrm>
            <a:off x="9216237" y="4983480"/>
            <a:ext cx="2286000" cy="731520"/>
          </a:xfrm>
          <a:prstGeom prst="rect">
            <a:avLst/>
          </a:prstGeom>
          <a:noFill/>
        </p:spPr>
        <p:txBody>
          <a:bodyPr wrap="square" lIns="0" tIns="0" rIns="0" bIns="0" anchor="t">
            <a:spAutoFit/>
          </a:bodyPr>
          <a:lstStyle/>
          <a:p>
            <a:pPr algn="l">
              <a:spcAft>
                <a:spcPts val="400"/>
              </a:spcAft>
            </a:pPr>
            <a:r>
              <a:rPr sz="1400" b="1">
                <a:solidFill>
                  <a:srgbClr val="E08A00"/>
                </a:solidFill>
                <a:latin typeface="Calibri"/>
              </a:rPr>
              <a:t>Lưu ý: </a:t>
            </a:r>
            <a:r>
              <a:rPr sz="1400" b="0">
                <a:solidFill>
                  <a:srgbClr val="1F2937"/>
                </a:solidFill>
                <a:latin typeface="Calibri"/>
              </a:rPr>
              <a:t>Chỉ xem điều AI gợi ý thì ít gặp chủ đề mới lạ.</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AI trong các công cụ hằng ngày</a:t>
            </a:r>
          </a:p>
        </p:txBody>
      </p:sp>
      <p:sp>
        <p:nvSpPr>
          <p:cNvPr id="3" name="Rounded Rectangle 2"/>
          <p:cNvSpPr/>
          <p:nvPr/>
        </p:nvSpPr>
        <p:spPr>
          <a:xfrm>
            <a:off x="548640" y="1280160"/>
            <a:ext cx="5422392" cy="210312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 y="1508760"/>
            <a:ext cx="685800" cy="68580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ook_w.png"/>
          <p:cNvPicPr>
            <a:picLocks noChangeAspect="1"/>
          </p:cNvPicPr>
          <p:nvPr/>
        </p:nvPicPr>
        <p:blipFill>
          <a:blip r:embed="rId3"/>
          <a:stretch>
            <a:fillRect/>
          </a:stretch>
        </p:blipFill>
        <p:spPr>
          <a:xfrm>
            <a:off x="948690" y="1680210"/>
            <a:ext cx="342900" cy="342900"/>
          </a:xfrm>
          <a:prstGeom prst="rect">
            <a:avLst/>
          </a:prstGeom>
        </p:spPr>
      </p:pic>
      <p:sp>
        <p:nvSpPr>
          <p:cNvPr id="6" name="TextBox 5"/>
          <p:cNvSpPr txBox="1"/>
          <p:nvPr/>
        </p:nvSpPr>
        <p:spPr>
          <a:xfrm>
            <a:off x="1645919" y="1481328"/>
            <a:ext cx="4114800" cy="457200"/>
          </a:xfrm>
          <a:prstGeom prst="rect">
            <a:avLst/>
          </a:prstGeom>
          <a:noFill/>
        </p:spPr>
        <p:txBody>
          <a:bodyPr wrap="square" lIns="0" tIns="0" rIns="0" bIns="0" anchor="ctr">
            <a:spAutoFit/>
          </a:bodyPr>
          <a:lstStyle/>
          <a:p>
            <a:pPr algn="l">
              <a:spcAft>
                <a:spcPts val="400"/>
              </a:spcAft>
            </a:pPr>
            <a:r>
              <a:rPr sz="1800" b="1">
                <a:solidFill>
                  <a:srgbClr val="1F5CA9"/>
                </a:solidFill>
                <a:latin typeface="Calibri"/>
              </a:rPr>
              <a:t>Học tập và tìm kiếm thông tin</a:t>
            </a:r>
          </a:p>
        </p:txBody>
      </p:sp>
      <p:sp>
        <p:nvSpPr>
          <p:cNvPr id="7" name="TextBox 6"/>
          <p:cNvSpPr txBox="1"/>
          <p:nvPr/>
        </p:nvSpPr>
        <p:spPr>
          <a:xfrm>
            <a:off x="1645919" y="2057400"/>
            <a:ext cx="4114800" cy="1280160"/>
          </a:xfrm>
          <a:prstGeom prst="rect">
            <a:avLst/>
          </a:prstGeom>
          <a:noFill/>
        </p:spPr>
        <p:txBody>
          <a:bodyPr wrap="square" lIns="0" tIns="0" rIns="0" bIns="0" anchor="t">
            <a:spAutoFit/>
          </a:bodyPr>
          <a:lstStyle/>
          <a:p>
            <a:pPr algn="l">
              <a:spcAft>
                <a:spcPts val="600"/>
              </a:spcAft>
            </a:pPr>
            <a:r>
              <a:rPr sz="1500" b="1">
                <a:solidFill>
                  <a:srgbClr val="1F2937"/>
                </a:solidFill>
                <a:latin typeface="Calibri"/>
              </a:rPr>
              <a:t>AI giúp: </a:t>
            </a:r>
            <a:r>
              <a:rPr sz="1500" b="0">
                <a:solidFill>
                  <a:srgbClr val="1F2937"/>
                </a:solidFill>
                <a:latin typeface="Calibri"/>
              </a:rPr>
              <a:t>Giải thích bài học, làm dàn ý, tóm tắt tài liệu, gợi ý ý tưởng.</a:t>
            </a:r>
          </a:p>
          <a:p>
            <a:pPr algn="l">
              <a:spcAft>
                <a:spcPts val="600"/>
              </a:spcAft>
            </a:pPr>
            <a:r>
              <a:rPr sz="1500" b="1">
                <a:solidFill>
                  <a:srgbClr val="E08A00"/>
                </a:solidFill>
                <a:latin typeface="Calibri"/>
              </a:rPr>
              <a:t>Lưu ý: </a:t>
            </a:r>
            <a:r>
              <a:rPr sz="1500" b="0">
                <a:solidFill>
                  <a:srgbClr val="1F2937"/>
                </a:solidFill>
                <a:latin typeface="Calibri"/>
              </a:rPr>
              <a:t>Chỉ là công cụ hỗ trợ, không chép nguyên văn hay dựa dẫm hoàn toàn.</a:t>
            </a:r>
          </a:p>
        </p:txBody>
      </p:sp>
      <p:sp>
        <p:nvSpPr>
          <p:cNvPr id="8" name="Rounded Rectangle 7"/>
          <p:cNvSpPr/>
          <p:nvPr/>
        </p:nvSpPr>
        <p:spPr>
          <a:xfrm>
            <a:off x="6217920" y="1280160"/>
            <a:ext cx="5422392" cy="210312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46520" y="1508760"/>
            <a:ext cx="685800" cy="68580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ang_w.png"/>
          <p:cNvPicPr>
            <a:picLocks noChangeAspect="1"/>
          </p:cNvPicPr>
          <p:nvPr/>
        </p:nvPicPr>
        <p:blipFill>
          <a:blip r:embed="rId4"/>
          <a:stretch>
            <a:fillRect/>
          </a:stretch>
        </p:blipFill>
        <p:spPr>
          <a:xfrm>
            <a:off x="6617970" y="1680210"/>
            <a:ext cx="342900" cy="342900"/>
          </a:xfrm>
          <a:prstGeom prst="rect">
            <a:avLst/>
          </a:prstGeom>
        </p:spPr>
      </p:pic>
      <p:sp>
        <p:nvSpPr>
          <p:cNvPr id="11" name="TextBox 10"/>
          <p:cNvSpPr txBox="1"/>
          <p:nvPr/>
        </p:nvSpPr>
        <p:spPr>
          <a:xfrm>
            <a:off x="7315200" y="1481328"/>
            <a:ext cx="4114800" cy="457200"/>
          </a:xfrm>
          <a:prstGeom prst="rect">
            <a:avLst/>
          </a:prstGeom>
          <a:noFill/>
        </p:spPr>
        <p:txBody>
          <a:bodyPr wrap="square" lIns="0" tIns="0" rIns="0" bIns="0" anchor="ctr">
            <a:spAutoFit/>
          </a:bodyPr>
          <a:lstStyle/>
          <a:p>
            <a:pPr algn="l">
              <a:spcAft>
                <a:spcPts val="400"/>
              </a:spcAft>
            </a:pPr>
            <a:r>
              <a:rPr sz="1800" b="1">
                <a:solidFill>
                  <a:srgbClr val="1F5CA9"/>
                </a:solidFill>
                <a:latin typeface="Calibri"/>
              </a:rPr>
              <a:t>Dịch thuật và ngoại ngữ</a:t>
            </a:r>
          </a:p>
        </p:txBody>
      </p:sp>
      <p:sp>
        <p:nvSpPr>
          <p:cNvPr id="12" name="TextBox 11"/>
          <p:cNvSpPr txBox="1"/>
          <p:nvPr/>
        </p:nvSpPr>
        <p:spPr>
          <a:xfrm>
            <a:off x="7315200" y="2057400"/>
            <a:ext cx="4114800" cy="1280160"/>
          </a:xfrm>
          <a:prstGeom prst="rect">
            <a:avLst/>
          </a:prstGeom>
          <a:noFill/>
        </p:spPr>
        <p:txBody>
          <a:bodyPr wrap="square" lIns="0" tIns="0" rIns="0" bIns="0" anchor="t">
            <a:spAutoFit/>
          </a:bodyPr>
          <a:lstStyle/>
          <a:p>
            <a:pPr algn="l">
              <a:spcAft>
                <a:spcPts val="600"/>
              </a:spcAft>
            </a:pPr>
            <a:r>
              <a:rPr sz="1500" b="1">
                <a:solidFill>
                  <a:srgbClr val="1F2937"/>
                </a:solidFill>
                <a:latin typeface="Calibri"/>
              </a:rPr>
              <a:t>AI giúp: </a:t>
            </a:r>
            <a:r>
              <a:rPr sz="1500" b="0">
                <a:solidFill>
                  <a:srgbClr val="1F2937"/>
                </a:solidFill>
                <a:latin typeface="Calibri"/>
              </a:rPr>
              <a:t>Giúp đọc hiểu tài liệu nước ngoài nhanh hơn.</a:t>
            </a:r>
          </a:p>
          <a:p>
            <a:pPr algn="l">
              <a:spcAft>
                <a:spcPts val="600"/>
              </a:spcAft>
            </a:pPr>
            <a:r>
              <a:rPr sz="1500" b="1">
                <a:solidFill>
                  <a:srgbClr val="E08A00"/>
                </a:solidFill>
                <a:latin typeface="Calibri"/>
              </a:rPr>
              <a:t>Lưu ý: </a:t>
            </a:r>
            <a:r>
              <a:rPr sz="1500" b="0">
                <a:solidFill>
                  <a:srgbClr val="1F2937"/>
                </a:solidFill>
                <a:latin typeface="Calibri"/>
              </a:rPr>
              <a:t>Từ chuyên ngành, thành ngữ vẫn phải tra lại từ điển để tránh dịch sai.</a:t>
            </a:r>
          </a:p>
        </p:txBody>
      </p:sp>
      <p:sp>
        <p:nvSpPr>
          <p:cNvPr id="13" name="Rounded Rectangle 12"/>
          <p:cNvSpPr/>
          <p:nvPr/>
        </p:nvSpPr>
        <p:spPr>
          <a:xfrm>
            <a:off x="548640" y="3566160"/>
            <a:ext cx="5422392" cy="210312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7240" y="3794760"/>
            <a:ext cx="685800" cy="68580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paint_w.png"/>
          <p:cNvPicPr>
            <a:picLocks noChangeAspect="1"/>
          </p:cNvPicPr>
          <p:nvPr/>
        </p:nvPicPr>
        <p:blipFill>
          <a:blip r:embed="rId5"/>
          <a:stretch>
            <a:fillRect/>
          </a:stretch>
        </p:blipFill>
        <p:spPr>
          <a:xfrm>
            <a:off x="948690" y="3966210"/>
            <a:ext cx="342900" cy="342900"/>
          </a:xfrm>
          <a:prstGeom prst="rect">
            <a:avLst/>
          </a:prstGeom>
        </p:spPr>
      </p:pic>
      <p:sp>
        <p:nvSpPr>
          <p:cNvPr id="16" name="TextBox 15"/>
          <p:cNvSpPr txBox="1"/>
          <p:nvPr/>
        </p:nvSpPr>
        <p:spPr>
          <a:xfrm>
            <a:off x="1645919" y="3767328"/>
            <a:ext cx="4114800" cy="457200"/>
          </a:xfrm>
          <a:prstGeom prst="rect">
            <a:avLst/>
          </a:prstGeom>
          <a:noFill/>
        </p:spPr>
        <p:txBody>
          <a:bodyPr wrap="square" lIns="0" tIns="0" rIns="0" bIns="0" anchor="ctr">
            <a:spAutoFit/>
          </a:bodyPr>
          <a:lstStyle/>
          <a:p>
            <a:pPr algn="l">
              <a:spcAft>
                <a:spcPts val="400"/>
              </a:spcAft>
            </a:pPr>
            <a:r>
              <a:rPr sz="1800" b="1">
                <a:solidFill>
                  <a:srgbClr val="1F5CA9"/>
                </a:solidFill>
                <a:latin typeface="Calibri"/>
              </a:rPr>
              <a:t>Giao tiếp và sáng tạo</a:t>
            </a:r>
          </a:p>
        </p:txBody>
      </p:sp>
      <p:sp>
        <p:nvSpPr>
          <p:cNvPr id="17" name="TextBox 16"/>
          <p:cNvSpPr txBox="1"/>
          <p:nvPr/>
        </p:nvSpPr>
        <p:spPr>
          <a:xfrm>
            <a:off x="1645919" y="4343400"/>
            <a:ext cx="4114800" cy="1280160"/>
          </a:xfrm>
          <a:prstGeom prst="rect">
            <a:avLst/>
          </a:prstGeom>
          <a:noFill/>
        </p:spPr>
        <p:txBody>
          <a:bodyPr wrap="square" lIns="0" tIns="0" rIns="0" bIns="0" anchor="t">
            <a:spAutoFit/>
          </a:bodyPr>
          <a:lstStyle/>
          <a:p>
            <a:pPr algn="l">
              <a:spcAft>
                <a:spcPts val="600"/>
              </a:spcAft>
            </a:pPr>
            <a:r>
              <a:rPr sz="1500" b="1">
                <a:solidFill>
                  <a:srgbClr val="1F2937"/>
                </a:solidFill>
                <a:latin typeface="Calibri"/>
              </a:rPr>
              <a:t>AI giúp: </a:t>
            </a:r>
            <a:r>
              <a:rPr sz="1500" b="0">
                <a:solidFill>
                  <a:srgbClr val="1F2937"/>
                </a:solidFill>
                <a:latin typeface="Calibri"/>
              </a:rPr>
              <a:t>Sửa lỗi câu từ, làm bản nháp, gợi ý nội dung thuyết trình, ý tưởng thiết kế.</a:t>
            </a:r>
          </a:p>
          <a:p>
            <a:pPr algn="l">
              <a:spcAft>
                <a:spcPts val="600"/>
              </a:spcAft>
            </a:pPr>
            <a:r>
              <a:rPr sz="1500" b="1">
                <a:solidFill>
                  <a:srgbClr val="E08A00"/>
                </a:solidFill>
                <a:latin typeface="Calibri"/>
              </a:rPr>
              <a:t>Lưu ý: </a:t>
            </a:r>
            <a:r>
              <a:rPr sz="1500" b="0">
                <a:solidFill>
                  <a:srgbClr val="1F2937"/>
                </a:solidFill>
                <a:latin typeface="Calibri"/>
              </a:rPr>
              <a:t>Sản phẩm cuối cần con người chỉnh sửa để giữ chất riêng.</a:t>
            </a:r>
          </a:p>
        </p:txBody>
      </p:sp>
      <p:sp>
        <p:nvSpPr>
          <p:cNvPr id="18" name="Rounded Rectangle 17"/>
          <p:cNvSpPr/>
          <p:nvPr/>
        </p:nvSpPr>
        <p:spPr>
          <a:xfrm>
            <a:off x="6217920" y="3566160"/>
            <a:ext cx="5422392" cy="210312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46520" y="3794760"/>
            <a:ext cx="685800" cy="68580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lm_w.png"/>
          <p:cNvPicPr>
            <a:picLocks noChangeAspect="1"/>
          </p:cNvPicPr>
          <p:nvPr/>
        </p:nvPicPr>
        <p:blipFill>
          <a:blip r:embed="rId6"/>
          <a:stretch>
            <a:fillRect/>
          </a:stretch>
        </p:blipFill>
        <p:spPr>
          <a:xfrm>
            <a:off x="6617970" y="3966210"/>
            <a:ext cx="342900" cy="342900"/>
          </a:xfrm>
          <a:prstGeom prst="rect">
            <a:avLst/>
          </a:prstGeom>
        </p:spPr>
      </p:pic>
      <p:sp>
        <p:nvSpPr>
          <p:cNvPr id="21" name="TextBox 20"/>
          <p:cNvSpPr txBox="1"/>
          <p:nvPr/>
        </p:nvSpPr>
        <p:spPr>
          <a:xfrm>
            <a:off x="7315200" y="3767328"/>
            <a:ext cx="4114800" cy="457200"/>
          </a:xfrm>
          <a:prstGeom prst="rect">
            <a:avLst/>
          </a:prstGeom>
          <a:noFill/>
        </p:spPr>
        <p:txBody>
          <a:bodyPr wrap="square" lIns="0" tIns="0" rIns="0" bIns="0" anchor="ctr">
            <a:spAutoFit/>
          </a:bodyPr>
          <a:lstStyle/>
          <a:p>
            <a:pPr algn="l">
              <a:spcAft>
                <a:spcPts val="400"/>
              </a:spcAft>
            </a:pPr>
            <a:r>
              <a:rPr sz="1800" b="1">
                <a:solidFill>
                  <a:srgbClr val="1F5CA9"/>
                </a:solidFill>
                <a:latin typeface="Calibri"/>
              </a:rPr>
              <a:t>Giải trí và cá nhân hóa</a:t>
            </a:r>
          </a:p>
        </p:txBody>
      </p:sp>
      <p:sp>
        <p:nvSpPr>
          <p:cNvPr id="22" name="TextBox 21"/>
          <p:cNvSpPr txBox="1"/>
          <p:nvPr/>
        </p:nvSpPr>
        <p:spPr>
          <a:xfrm>
            <a:off x="7315200" y="4343400"/>
            <a:ext cx="4114800" cy="1280160"/>
          </a:xfrm>
          <a:prstGeom prst="rect">
            <a:avLst/>
          </a:prstGeom>
          <a:noFill/>
        </p:spPr>
        <p:txBody>
          <a:bodyPr wrap="square" lIns="0" tIns="0" rIns="0" bIns="0" anchor="t">
            <a:spAutoFit/>
          </a:bodyPr>
          <a:lstStyle/>
          <a:p>
            <a:pPr algn="l">
              <a:spcAft>
                <a:spcPts val="600"/>
              </a:spcAft>
            </a:pPr>
            <a:r>
              <a:rPr sz="1500" b="1">
                <a:solidFill>
                  <a:srgbClr val="1F2937"/>
                </a:solidFill>
                <a:latin typeface="Calibri"/>
              </a:rPr>
              <a:t>AI giúp: </a:t>
            </a:r>
            <a:r>
              <a:rPr sz="1500" b="0">
                <a:solidFill>
                  <a:srgbClr val="1F2937"/>
                </a:solidFill>
                <a:latin typeface="Calibri"/>
              </a:rPr>
              <a:t>Đề xuất đúng phim, nhạc, nội dung mình thích.</a:t>
            </a:r>
          </a:p>
          <a:p>
            <a:pPr algn="l">
              <a:spcAft>
                <a:spcPts val="600"/>
              </a:spcAft>
            </a:pPr>
            <a:r>
              <a:rPr sz="1500" b="1">
                <a:solidFill>
                  <a:srgbClr val="E08A00"/>
                </a:solidFill>
                <a:latin typeface="Calibri"/>
              </a:rPr>
              <a:t>Lưu ý: </a:t>
            </a:r>
            <a:r>
              <a:rPr sz="1500" b="0">
                <a:solidFill>
                  <a:srgbClr val="1F2937"/>
                </a:solidFill>
                <a:latin typeface="Calibri"/>
              </a:rPr>
              <a:t>Dễ sa đà, tốn thời gian nếu không biết tự quản lý.</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Điểm nổi bật từ các nguồn nghiên cứu</a:t>
            </a:r>
          </a:p>
        </p:txBody>
      </p:sp>
      <p:sp>
        <p:nvSpPr>
          <p:cNvPr id="3" name="Rounded Rectangle 2"/>
          <p:cNvSpPr/>
          <p:nvPr/>
        </p:nvSpPr>
        <p:spPr>
          <a:xfrm>
            <a:off x="548640" y="1280160"/>
            <a:ext cx="3593592" cy="16002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554480" cy="914400"/>
          </a:xfrm>
          <a:prstGeom prst="rect">
            <a:avLst/>
          </a:prstGeom>
          <a:noFill/>
        </p:spPr>
        <p:txBody>
          <a:bodyPr wrap="square" lIns="0" tIns="0" rIns="0" bIns="0" anchor="ctr">
            <a:spAutoFit/>
          </a:bodyPr>
          <a:lstStyle/>
          <a:p>
            <a:pPr algn="l">
              <a:spcAft>
                <a:spcPts val="400"/>
              </a:spcAft>
            </a:pPr>
            <a:r>
              <a:rPr sz="3600" b="1">
                <a:solidFill>
                  <a:srgbClr val="1F5CA9"/>
                </a:solidFill>
                <a:latin typeface="Calibri"/>
              </a:rPr>
              <a:t>&gt; 1/3</a:t>
            </a:r>
          </a:p>
        </p:txBody>
      </p:sp>
      <p:sp>
        <p:nvSpPr>
          <p:cNvPr id="5" name="TextBox 4"/>
          <p:cNvSpPr txBox="1"/>
          <p:nvPr/>
        </p:nvSpPr>
        <p:spPr>
          <a:xfrm>
            <a:off x="2331720" y="1371600"/>
            <a:ext cx="1691640" cy="1097280"/>
          </a:xfrm>
          <a:prstGeom prst="rect">
            <a:avLst/>
          </a:prstGeom>
          <a:noFill/>
        </p:spPr>
        <p:txBody>
          <a:bodyPr wrap="square" lIns="0" tIns="0" rIns="0" bIns="0" anchor="ctr">
            <a:spAutoFit/>
          </a:bodyPr>
          <a:lstStyle/>
          <a:p>
            <a:pPr algn="l">
              <a:spcAft>
                <a:spcPts val="400"/>
              </a:spcAft>
            </a:pPr>
            <a:r>
              <a:rPr sz="1300" b="0">
                <a:solidFill>
                  <a:srgbClr val="1F2937"/>
                </a:solidFill>
                <a:latin typeface="Calibri"/>
              </a:rPr>
              <a:t>cá nhân trong khối OECD dùng AI tạo sinh năm 2025</a:t>
            </a:r>
          </a:p>
        </p:txBody>
      </p:sp>
      <p:sp>
        <p:nvSpPr>
          <p:cNvPr id="6" name="TextBox 5"/>
          <p:cNvSpPr txBox="1"/>
          <p:nvPr/>
        </p:nvSpPr>
        <p:spPr>
          <a:xfrm>
            <a:off x="731520" y="2423160"/>
            <a:ext cx="3291840" cy="365760"/>
          </a:xfrm>
          <a:prstGeom prst="rect">
            <a:avLst/>
          </a:prstGeom>
          <a:noFill/>
        </p:spPr>
        <p:txBody>
          <a:bodyPr wrap="square" lIns="0" tIns="0" rIns="0" bIns="0" anchor="t">
            <a:spAutoFit/>
          </a:bodyPr>
          <a:lstStyle/>
          <a:p>
            <a:pPr algn="l">
              <a:spcAft>
                <a:spcPts val="400"/>
              </a:spcAft>
            </a:pPr>
            <a:r>
              <a:rPr sz="1200" b="0" dirty="0">
                <a:solidFill>
                  <a:srgbClr val="5B6778"/>
                </a:solidFill>
                <a:latin typeface="Calibri"/>
              </a:rPr>
              <a:t>OECD, 2026</a:t>
            </a:r>
          </a:p>
        </p:txBody>
      </p:sp>
      <p:sp>
        <p:nvSpPr>
          <p:cNvPr id="7" name="Rounded Rectangle 6"/>
          <p:cNvSpPr/>
          <p:nvPr/>
        </p:nvSpPr>
        <p:spPr>
          <a:xfrm>
            <a:off x="4297679" y="1280160"/>
            <a:ext cx="3593592" cy="16002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59" y="1371600"/>
            <a:ext cx="1554480" cy="914400"/>
          </a:xfrm>
          <a:prstGeom prst="rect">
            <a:avLst/>
          </a:prstGeom>
          <a:noFill/>
        </p:spPr>
        <p:txBody>
          <a:bodyPr wrap="square" lIns="0" tIns="0" rIns="0" bIns="0" anchor="ctr">
            <a:spAutoFit/>
          </a:bodyPr>
          <a:lstStyle/>
          <a:p>
            <a:pPr algn="l">
              <a:spcAft>
                <a:spcPts val="400"/>
              </a:spcAft>
            </a:pPr>
            <a:r>
              <a:rPr sz="3600" b="1">
                <a:solidFill>
                  <a:srgbClr val="1F5CA9"/>
                </a:solidFill>
                <a:latin typeface="Calibri"/>
              </a:rPr>
              <a:t>53%</a:t>
            </a:r>
          </a:p>
        </p:txBody>
      </p:sp>
      <p:sp>
        <p:nvSpPr>
          <p:cNvPr id="9" name="TextBox 8"/>
          <p:cNvSpPr txBox="1"/>
          <p:nvPr/>
        </p:nvSpPr>
        <p:spPr>
          <a:xfrm>
            <a:off x="6080759" y="1371600"/>
            <a:ext cx="1691640" cy="1097280"/>
          </a:xfrm>
          <a:prstGeom prst="rect">
            <a:avLst/>
          </a:prstGeom>
          <a:noFill/>
        </p:spPr>
        <p:txBody>
          <a:bodyPr wrap="square" lIns="0" tIns="0" rIns="0" bIns="0" anchor="ctr">
            <a:spAutoFit/>
          </a:bodyPr>
          <a:lstStyle/>
          <a:p>
            <a:pPr algn="l">
              <a:spcAft>
                <a:spcPts val="400"/>
              </a:spcAft>
            </a:pPr>
            <a:r>
              <a:rPr sz="1300" b="0">
                <a:solidFill>
                  <a:srgbClr val="1F2937"/>
                </a:solidFill>
                <a:latin typeface="Calibri"/>
              </a:rPr>
              <a:t>mức chấp nhận AI tạo sinh trong 3 năm, nhanh hơn internet và máy tính cá nhân</a:t>
            </a:r>
          </a:p>
        </p:txBody>
      </p:sp>
      <p:sp>
        <p:nvSpPr>
          <p:cNvPr id="10" name="TextBox 9"/>
          <p:cNvSpPr txBox="1"/>
          <p:nvPr/>
        </p:nvSpPr>
        <p:spPr>
          <a:xfrm>
            <a:off x="4480559" y="2423160"/>
            <a:ext cx="3291840" cy="365760"/>
          </a:xfrm>
          <a:prstGeom prst="rect">
            <a:avLst/>
          </a:prstGeom>
          <a:noFill/>
        </p:spPr>
        <p:txBody>
          <a:bodyPr wrap="square" lIns="0" tIns="0" rIns="0" bIns="0" anchor="t">
            <a:spAutoFit/>
          </a:bodyPr>
          <a:lstStyle/>
          <a:p>
            <a:pPr algn="l">
              <a:spcAft>
                <a:spcPts val="400"/>
              </a:spcAft>
            </a:pPr>
            <a:r>
              <a:rPr sz="1200" b="0" dirty="0">
                <a:solidFill>
                  <a:srgbClr val="5B6778"/>
                </a:solidFill>
                <a:latin typeface="Calibri"/>
              </a:rPr>
              <a:t>Stanford HAI, 2026</a:t>
            </a:r>
          </a:p>
        </p:txBody>
      </p:sp>
      <p:sp>
        <p:nvSpPr>
          <p:cNvPr id="11" name="Rounded Rectangle 10"/>
          <p:cNvSpPr/>
          <p:nvPr/>
        </p:nvSpPr>
        <p:spPr>
          <a:xfrm>
            <a:off x="8046719" y="1280160"/>
            <a:ext cx="3593592" cy="16002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9" y="1371600"/>
            <a:ext cx="1554480" cy="914400"/>
          </a:xfrm>
          <a:prstGeom prst="rect">
            <a:avLst/>
          </a:prstGeom>
          <a:noFill/>
        </p:spPr>
        <p:txBody>
          <a:bodyPr wrap="square" lIns="0" tIns="0" rIns="0" bIns="0" anchor="ctr">
            <a:spAutoFit/>
          </a:bodyPr>
          <a:lstStyle/>
          <a:p>
            <a:pPr algn="l">
              <a:spcAft>
                <a:spcPts val="400"/>
              </a:spcAft>
            </a:pPr>
            <a:r>
              <a:rPr sz="3600" b="1">
                <a:solidFill>
                  <a:srgbClr val="1F5CA9"/>
                </a:solidFill>
                <a:latin typeface="Calibri"/>
              </a:rPr>
              <a:t>1/3</a:t>
            </a:r>
          </a:p>
        </p:txBody>
      </p:sp>
      <p:sp>
        <p:nvSpPr>
          <p:cNvPr id="13" name="TextBox 12"/>
          <p:cNvSpPr txBox="1"/>
          <p:nvPr/>
        </p:nvSpPr>
        <p:spPr>
          <a:xfrm>
            <a:off x="9829799" y="1371600"/>
            <a:ext cx="1691640" cy="1097280"/>
          </a:xfrm>
          <a:prstGeom prst="rect">
            <a:avLst/>
          </a:prstGeom>
          <a:noFill/>
        </p:spPr>
        <p:txBody>
          <a:bodyPr wrap="square" lIns="0" tIns="0" rIns="0" bIns="0" anchor="ctr">
            <a:spAutoFit/>
          </a:bodyPr>
          <a:lstStyle/>
          <a:p>
            <a:pPr algn="l">
              <a:spcAft>
                <a:spcPts val="400"/>
              </a:spcAft>
            </a:pPr>
            <a:r>
              <a:rPr sz="1300" b="0">
                <a:solidFill>
                  <a:srgbClr val="1F2937"/>
                </a:solidFill>
                <a:latin typeface="Calibri"/>
              </a:rPr>
              <a:t>người dùng AI hơn một giờ mỗi ngày</a:t>
            </a:r>
          </a:p>
        </p:txBody>
      </p:sp>
      <p:sp>
        <p:nvSpPr>
          <p:cNvPr id="14" name="TextBox 13"/>
          <p:cNvSpPr txBox="1"/>
          <p:nvPr/>
        </p:nvSpPr>
        <p:spPr>
          <a:xfrm>
            <a:off x="8229599" y="2423160"/>
            <a:ext cx="3291840" cy="365760"/>
          </a:xfrm>
          <a:prstGeom prst="rect">
            <a:avLst/>
          </a:prstGeom>
          <a:noFill/>
        </p:spPr>
        <p:txBody>
          <a:bodyPr wrap="square" lIns="0" tIns="0" rIns="0" bIns="0" anchor="t">
            <a:spAutoFit/>
          </a:bodyPr>
          <a:lstStyle/>
          <a:p>
            <a:pPr algn="l">
              <a:spcAft>
                <a:spcPts val="400"/>
              </a:spcAft>
            </a:pPr>
            <a:r>
              <a:rPr sz="1200" b="0">
                <a:solidFill>
                  <a:srgbClr val="5B6778"/>
                </a:solidFill>
                <a:latin typeface="Calibri"/>
              </a:rPr>
              <a:t>Capgemini Research Institute, 2025</a:t>
            </a:r>
          </a:p>
        </p:txBody>
      </p:sp>
      <p:sp>
        <p:nvSpPr>
          <p:cNvPr id="15" name="Rounded Rectangle 14"/>
          <p:cNvSpPr/>
          <p:nvPr/>
        </p:nvSpPr>
        <p:spPr>
          <a:xfrm>
            <a:off x="548640" y="3063240"/>
            <a:ext cx="5440680" cy="2697480"/>
          </a:xfrm>
          <a:prstGeom prst="roundRect">
            <a:avLst>
              <a:gd name="adj" fmla="val 4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154680"/>
            <a:ext cx="5029200" cy="457200"/>
          </a:xfrm>
          <a:prstGeom prst="rect">
            <a:avLst/>
          </a:prstGeom>
          <a:noFill/>
        </p:spPr>
        <p:txBody>
          <a:bodyPr wrap="square" lIns="0" tIns="0" rIns="0" bIns="0" anchor="t">
            <a:spAutoFit/>
          </a:bodyPr>
          <a:lstStyle/>
          <a:p>
            <a:pPr algn="l">
              <a:spcAft>
                <a:spcPts val="400"/>
              </a:spcAft>
            </a:pPr>
            <a:r>
              <a:rPr sz="1500" b="1">
                <a:solidFill>
                  <a:srgbClr val="1F5CA9"/>
                </a:solidFill>
                <a:latin typeface="Calibri"/>
              </a:rPr>
              <a:t>Niềm tin vào nội dung do AI tạo ra</a:t>
            </a:r>
          </a:p>
        </p:txBody>
      </p:sp>
      <p:graphicFrame>
        <p:nvGraphicFramePr>
          <p:cNvPr id="17" name="Chart 16"/>
          <p:cNvGraphicFramePr>
            <a:graphicFrameLocks noGrp="1"/>
          </p:cNvGraphicFramePr>
          <p:nvPr/>
        </p:nvGraphicFramePr>
        <p:xfrm>
          <a:off x="777240" y="3611880"/>
          <a:ext cx="498348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777240" y="5440680"/>
            <a:ext cx="5029200" cy="274320"/>
          </a:xfrm>
          <a:prstGeom prst="rect">
            <a:avLst/>
          </a:prstGeom>
          <a:noFill/>
        </p:spPr>
        <p:txBody>
          <a:bodyPr wrap="square" lIns="0" tIns="0" rIns="0" bIns="0" anchor="t">
            <a:spAutoFit/>
          </a:bodyPr>
          <a:lstStyle/>
          <a:p>
            <a:pPr algn="l">
              <a:spcAft>
                <a:spcPts val="400"/>
              </a:spcAft>
            </a:pPr>
            <a:r>
              <a:rPr sz="1200" b="0">
                <a:solidFill>
                  <a:srgbClr val="5B6778"/>
                </a:solidFill>
                <a:latin typeface="Calibri"/>
              </a:rPr>
              <a:t>Capgemini Research Institute</a:t>
            </a:r>
          </a:p>
        </p:txBody>
      </p:sp>
      <p:sp>
        <p:nvSpPr>
          <p:cNvPr id="19" name="Rounded Rectangle 18"/>
          <p:cNvSpPr/>
          <p:nvPr/>
        </p:nvSpPr>
        <p:spPr>
          <a:xfrm>
            <a:off x="6199632" y="3063240"/>
            <a:ext cx="5440680" cy="2697480"/>
          </a:xfrm>
          <a:prstGeom prst="roundRect">
            <a:avLst>
              <a:gd name="adj" fmla="val 4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28232" y="3154680"/>
            <a:ext cx="5029200" cy="457200"/>
          </a:xfrm>
          <a:prstGeom prst="rect">
            <a:avLst/>
          </a:prstGeom>
          <a:noFill/>
        </p:spPr>
        <p:txBody>
          <a:bodyPr wrap="square" lIns="0" tIns="0" rIns="0" bIns="0" anchor="t">
            <a:spAutoFit/>
          </a:bodyPr>
          <a:lstStyle/>
          <a:p>
            <a:pPr algn="l">
              <a:spcAft>
                <a:spcPts val="400"/>
              </a:spcAft>
            </a:pPr>
            <a:r>
              <a:rPr sz="1500" b="1">
                <a:solidFill>
                  <a:srgbClr val="1F5CA9"/>
                </a:solidFill>
                <a:latin typeface="Calibri"/>
              </a:rPr>
              <a:t>Người Mỹ lo ngại nhiều hơn hào hứng với AI</a:t>
            </a:r>
          </a:p>
        </p:txBody>
      </p:sp>
      <p:graphicFrame>
        <p:nvGraphicFramePr>
          <p:cNvPr id="21" name="Chart 20"/>
          <p:cNvGraphicFramePr>
            <a:graphicFrameLocks noGrp="1"/>
          </p:cNvGraphicFramePr>
          <p:nvPr/>
        </p:nvGraphicFramePr>
        <p:xfrm>
          <a:off x="6428232" y="3611880"/>
          <a:ext cx="498348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Box 21"/>
          <p:cNvSpPr txBox="1"/>
          <p:nvPr/>
        </p:nvSpPr>
        <p:spPr>
          <a:xfrm>
            <a:off x="6428232" y="5440680"/>
            <a:ext cx="5029200" cy="274320"/>
          </a:xfrm>
          <a:prstGeom prst="rect">
            <a:avLst/>
          </a:prstGeom>
          <a:noFill/>
        </p:spPr>
        <p:txBody>
          <a:bodyPr wrap="square" lIns="0" tIns="0" rIns="0" bIns="0" anchor="t">
            <a:spAutoFit/>
          </a:bodyPr>
          <a:lstStyle/>
          <a:p>
            <a:pPr algn="l">
              <a:spcAft>
                <a:spcPts val="400"/>
              </a:spcAft>
            </a:pPr>
            <a:r>
              <a:rPr sz="1200" b="0">
                <a:solidFill>
                  <a:srgbClr val="5B6778"/>
                </a:solidFill>
                <a:latin typeface="Calibri"/>
              </a:rPr>
              <a:t>Pew Research Center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Quy trình nghiên cứu và sự hỗ trợ của AI</a:t>
            </a:r>
          </a:p>
        </p:txBody>
      </p:sp>
      <p:sp>
        <p:nvSpPr>
          <p:cNvPr id="3" name="Rounded Rectangle 2"/>
          <p:cNvSpPr/>
          <p:nvPr/>
        </p:nvSpPr>
        <p:spPr>
          <a:xfrm>
            <a:off x="548640" y="1280160"/>
            <a:ext cx="2560320"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1520" y="1417320"/>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earch_w.png"/>
          <p:cNvPicPr>
            <a:picLocks noChangeAspect="1"/>
          </p:cNvPicPr>
          <p:nvPr/>
        </p:nvPicPr>
        <p:blipFill>
          <a:blip r:embed="rId3"/>
          <a:stretch>
            <a:fillRect/>
          </a:stretch>
        </p:blipFill>
        <p:spPr>
          <a:xfrm>
            <a:off x="868680" y="1554480"/>
            <a:ext cx="274320" cy="274320"/>
          </a:xfrm>
          <a:prstGeom prst="rect">
            <a:avLst/>
          </a:prstGeom>
        </p:spPr>
      </p:pic>
      <p:sp>
        <p:nvSpPr>
          <p:cNvPr id="6" name="TextBox 5"/>
          <p:cNvSpPr txBox="1"/>
          <p:nvPr/>
        </p:nvSpPr>
        <p:spPr>
          <a:xfrm>
            <a:off x="1417319" y="1417320"/>
            <a:ext cx="1600200" cy="548640"/>
          </a:xfrm>
          <a:prstGeom prst="rect">
            <a:avLst/>
          </a:prstGeom>
          <a:noFill/>
        </p:spPr>
        <p:txBody>
          <a:bodyPr wrap="square" lIns="0" tIns="0" rIns="0" bIns="0" anchor="ctr">
            <a:spAutoFit/>
          </a:bodyPr>
          <a:lstStyle/>
          <a:p>
            <a:pPr algn="l">
              <a:spcAft>
                <a:spcPts val="400"/>
              </a:spcAft>
            </a:pPr>
            <a:r>
              <a:rPr sz="1600" b="1">
                <a:solidFill>
                  <a:srgbClr val="1F5CA9"/>
                </a:solidFill>
                <a:latin typeface="Calibri"/>
              </a:rPr>
              <a:t>Thu thập</a:t>
            </a:r>
          </a:p>
        </p:txBody>
      </p:sp>
      <p:sp>
        <p:nvSpPr>
          <p:cNvPr id="7" name="TextBox 6"/>
          <p:cNvSpPr txBox="1"/>
          <p:nvPr/>
        </p:nvSpPr>
        <p:spPr>
          <a:xfrm>
            <a:off x="731520" y="2103120"/>
            <a:ext cx="2240280" cy="1188720"/>
          </a:xfrm>
          <a:prstGeom prst="rect">
            <a:avLst/>
          </a:prstGeom>
          <a:noFill/>
        </p:spPr>
        <p:txBody>
          <a:bodyPr wrap="square" lIns="0" tIns="0" rIns="0" bIns="0" anchor="t">
            <a:spAutoFit/>
          </a:bodyPr>
          <a:lstStyle/>
          <a:p>
            <a:pPr algn="l">
              <a:spcAft>
                <a:spcPts val="400"/>
              </a:spcAft>
            </a:pPr>
            <a:r>
              <a:rPr sz="1400" b="0">
                <a:solidFill>
                  <a:srgbClr val="1F2937"/>
                </a:solidFill>
                <a:latin typeface="Calibri"/>
              </a:rPr>
              <a:t>Dữ liệu thứ cấp: bài báo khoa học, tài liệu, trang web uy tín</a:t>
            </a:r>
          </a:p>
        </p:txBody>
      </p:sp>
      <p:sp>
        <p:nvSpPr>
          <p:cNvPr id="8" name="Isosceles Triangle 7"/>
          <p:cNvSpPr/>
          <p:nvPr/>
        </p:nvSpPr>
        <p:spPr>
          <a:xfrm rot="5400000">
            <a:off x="3127248" y="2148840"/>
            <a:ext cx="219456" cy="310896"/>
          </a:xfrm>
          <a:prstGeom prst="triangl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64992" y="1280160"/>
            <a:ext cx="2560320"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547872" y="1417320"/>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heck_w.png"/>
          <p:cNvPicPr>
            <a:picLocks noChangeAspect="1"/>
          </p:cNvPicPr>
          <p:nvPr/>
        </p:nvPicPr>
        <p:blipFill>
          <a:blip r:embed="rId4"/>
          <a:stretch>
            <a:fillRect/>
          </a:stretch>
        </p:blipFill>
        <p:spPr>
          <a:xfrm>
            <a:off x="3685032" y="1554480"/>
            <a:ext cx="274320" cy="274320"/>
          </a:xfrm>
          <a:prstGeom prst="rect">
            <a:avLst/>
          </a:prstGeom>
        </p:spPr>
      </p:pic>
      <p:sp>
        <p:nvSpPr>
          <p:cNvPr id="12" name="TextBox 11"/>
          <p:cNvSpPr txBox="1"/>
          <p:nvPr/>
        </p:nvSpPr>
        <p:spPr>
          <a:xfrm>
            <a:off x="4233672" y="1417320"/>
            <a:ext cx="1600200" cy="548640"/>
          </a:xfrm>
          <a:prstGeom prst="rect">
            <a:avLst/>
          </a:prstGeom>
          <a:noFill/>
        </p:spPr>
        <p:txBody>
          <a:bodyPr wrap="square" lIns="0" tIns="0" rIns="0" bIns="0" anchor="ctr">
            <a:spAutoFit/>
          </a:bodyPr>
          <a:lstStyle/>
          <a:p>
            <a:pPr algn="l">
              <a:spcAft>
                <a:spcPts val="400"/>
              </a:spcAft>
            </a:pPr>
            <a:r>
              <a:rPr sz="1600" b="1">
                <a:solidFill>
                  <a:srgbClr val="1F5CA9"/>
                </a:solidFill>
                <a:latin typeface="Calibri"/>
              </a:rPr>
              <a:t>Chọn lọc, tổng hợp</a:t>
            </a:r>
          </a:p>
        </p:txBody>
      </p:sp>
      <p:sp>
        <p:nvSpPr>
          <p:cNvPr id="13" name="TextBox 12"/>
          <p:cNvSpPr txBox="1"/>
          <p:nvPr/>
        </p:nvSpPr>
        <p:spPr>
          <a:xfrm>
            <a:off x="3547872" y="2103120"/>
            <a:ext cx="2240280" cy="1188720"/>
          </a:xfrm>
          <a:prstGeom prst="rect">
            <a:avLst/>
          </a:prstGeom>
          <a:noFill/>
        </p:spPr>
        <p:txBody>
          <a:bodyPr wrap="square" lIns="0" tIns="0" rIns="0" bIns="0" anchor="t">
            <a:spAutoFit/>
          </a:bodyPr>
          <a:lstStyle/>
          <a:p>
            <a:pPr algn="l">
              <a:spcAft>
                <a:spcPts val="400"/>
              </a:spcAft>
            </a:pPr>
            <a:r>
              <a:rPr sz="1400" b="0">
                <a:solidFill>
                  <a:srgbClr val="1F2937"/>
                </a:solidFill>
                <a:latin typeface="Calibri"/>
              </a:rPr>
              <a:t>Giữ thông tin phù hợp với nội dung nghiên cứu</a:t>
            </a:r>
          </a:p>
        </p:txBody>
      </p:sp>
      <p:sp>
        <p:nvSpPr>
          <p:cNvPr id="14" name="Isosceles Triangle 13"/>
          <p:cNvSpPr/>
          <p:nvPr/>
        </p:nvSpPr>
        <p:spPr>
          <a:xfrm rot="5400000">
            <a:off x="5943600" y="2148840"/>
            <a:ext cx="219456" cy="310896"/>
          </a:xfrm>
          <a:prstGeom prst="triangl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81344" y="1280160"/>
            <a:ext cx="2560320"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417320"/>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cale_w.png"/>
          <p:cNvPicPr>
            <a:picLocks noChangeAspect="1"/>
          </p:cNvPicPr>
          <p:nvPr/>
        </p:nvPicPr>
        <p:blipFill>
          <a:blip r:embed="rId5"/>
          <a:stretch>
            <a:fillRect/>
          </a:stretch>
        </p:blipFill>
        <p:spPr>
          <a:xfrm>
            <a:off x="6501384" y="1554480"/>
            <a:ext cx="274320" cy="274320"/>
          </a:xfrm>
          <a:prstGeom prst="rect">
            <a:avLst/>
          </a:prstGeom>
        </p:spPr>
      </p:pic>
      <p:sp>
        <p:nvSpPr>
          <p:cNvPr id="18" name="TextBox 17"/>
          <p:cNvSpPr txBox="1"/>
          <p:nvPr/>
        </p:nvSpPr>
        <p:spPr>
          <a:xfrm>
            <a:off x="7050024" y="1417320"/>
            <a:ext cx="1600200" cy="548640"/>
          </a:xfrm>
          <a:prstGeom prst="rect">
            <a:avLst/>
          </a:prstGeom>
          <a:noFill/>
        </p:spPr>
        <p:txBody>
          <a:bodyPr wrap="square" lIns="0" tIns="0" rIns="0" bIns="0" anchor="ctr">
            <a:spAutoFit/>
          </a:bodyPr>
          <a:lstStyle/>
          <a:p>
            <a:pPr algn="l">
              <a:spcAft>
                <a:spcPts val="400"/>
              </a:spcAft>
            </a:pPr>
            <a:r>
              <a:rPr sz="1600" b="1">
                <a:solidFill>
                  <a:srgbClr val="1F5CA9"/>
                </a:solidFill>
                <a:latin typeface="Calibri"/>
              </a:rPr>
              <a:t>Đánh giá CRAAP</a:t>
            </a:r>
          </a:p>
        </p:txBody>
      </p:sp>
      <p:sp>
        <p:nvSpPr>
          <p:cNvPr id="19" name="TextBox 18"/>
          <p:cNvSpPr txBox="1"/>
          <p:nvPr/>
        </p:nvSpPr>
        <p:spPr>
          <a:xfrm>
            <a:off x="6364224" y="2103120"/>
            <a:ext cx="2240280" cy="1188720"/>
          </a:xfrm>
          <a:prstGeom prst="rect">
            <a:avLst/>
          </a:prstGeom>
          <a:noFill/>
        </p:spPr>
        <p:txBody>
          <a:bodyPr wrap="square" lIns="0" tIns="0" rIns="0" bIns="0" anchor="t">
            <a:spAutoFit/>
          </a:bodyPr>
          <a:lstStyle/>
          <a:p>
            <a:pPr algn="l">
              <a:spcAft>
                <a:spcPts val="400"/>
              </a:spcAft>
            </a:pPr>
            <a:r>
              <a:rPr sz="1400" b="0">
                <a:solidFill>
                  <a:srgbClr val="1F2937"/>
                </a:solidFill>
                <a:latin typeface="Calibri"/>
              </a:rPr>
              <a:t>Chấm điểm độ tin cậy từng nguồn</a:t>
            </a:r>
          </a:p>
        </p:txBody>
      </p:sp>
      <p:sp>
        <p:nvSpPr>
          <p:cNvPr id="20" name="Isosceles Triangle 19"/>
          <p:cNvSpPr/>
          <p:nvPr/>
        </p:nvSpPr>
        <p:spPr>
          <a:xfrm rot="5400000">
            <a:off x="8759952" y="2148840"/>
            <a:ext cx="219456" cy="310896"/>
          </a:xfrm>
          <a:prstGeom prst="triangl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997696" y="1280160"/>
            <a:ext cx="2560320"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80576" y="1417320"/>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ook_w.png"/>
          <p:cNvPicPr>
            <a:picLocks noChangeAspect="1"/>
          </p:cNvPicPr>
          <p:nvPr/>
        </p:nvPicPr>
        <p:blipFill>
          <a:blip r:embed="rId6"/>
          <a:stretch>
            <a:fillRect/>
          </a:stretch>
        </p:blipFill>
        <p:spPr>
          <a:xfrm>
            <a:off x="9317736" y="1554480"/>
            <a:ext cx="274320" cy="274320"/>
          </a:xfrm>
          <a:prstGeom prst="rect">
            <a:avLst/>
          </a:prstGeom>
        </p:spPr>
      </p:pic>
      <p:sp>
        <p:nvSpPr>
          <p:cNvPr id="24" name="TextBox 23"/>
          <p:cNvSpPr txBox="1"/>
          <p:nvPr/>
        </p:nvSpPr>
        <p:spPr>
          <a:xfrm>
            <a:off x="9866376" y="1417320"/>
            <a:ext cx="1600200" cy="548640"/>
          </a:xfrm>
          <a:prstGeom prst="rect">
            <a:avLst/>
          </a:prstGeom>
          <a:noFill/>
        </p:spPr>
        <p:txBody>
          <a:bodyPr wrap="square" lIns="0" tIns="0" rIns="0" bIns="0" anchor="ctr">
            <a:spAutoFit/>
          </a:bodyPr>
          <a:lstStyle/>
          <a:p>
            <a:pPr algn="l">
              <a:spcAft>
                <a:spcPts val="400"/>
              </a:spcAft>
            </a:pPr>
            <a:r>
              <a:rPr sz="1600" b="1">
                <a:solidFill>
                  <a:srgbClr val="1F5CA9"/>
                </a:solidFill>
                <a:latin typeface="Calibri"/>
              </a:rPr>
              <a:t>Viết báo cáo</a:t>
            </a:r>
          </a:p>
        </p:txBody>
      </p:sp>
      <p:sp>
        <p:nvSpPr>
          <p:cNvPr id="25" name="TextBox 24"/>
          <p:cNvSpPr txBox="1"/>
          <p:nvPr/>
        </p:nvSpPr>
        <p:spPr>
          <a:xfrm>
            <a:off x="9180576" y="2103120"/>
            <a:ext cx="2240280" cy="1188720"/>
          </a:xfrm>
          <a:prstGeom prst="rect">
            <a:avLst/>
          </a:prstGeom>
          <a:noFill/>
        </p:spPr>
        <p:txBody>
          <a:bodyPr wrap="square" lIns="0" tIns="0" rIns="0" bIns="0" anchor="t">
            <a:spAutoFit/>
          </a:bodyPr>
          <a:lstStyle/>
          <a:p>
            <a:pPr algn="l">
              <a:spcAft>
                <a:spcPts val="400"/>
              </a:spcAft>
            </a:pPr>
            <a:r>
              <a:rPr sz="1400" b="0">
                <a:solidFill>
                  <a:srgbClr val="1F2937"/>
                </a:solidFill>
                <a:latin typeface="Calibri"/>
              </a:rPr>
              <a:t>Nhóm trao đổi, thống nhất và hoàn thiện nội dung</a:t>
            </a:r>
          </a:p>
        </p:txBody>
      </p:sp>
      <p:sp>
        <p:nvSpPr>
          <p:cNvPr id="26" name="Rounded Rectangle 25"/>
          <p:cNvSpPr/>
          <p:nvPr/>
        </p:nvSpPr>
        <p:spPr>
          <a:xfrm>
            <a:off x="548640" y="3566160"/>
            <a:ext cx="5440680" cy="2194560"/>
          </a:xfrm>
          <a:prstGeom prst="roundRect">
            <a:avLst>
              <a:gd name="adj" fmla="val 5000"/>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77240" y="3730752"/>
            <a:ext cx="548640" cy="548640"/>
          </a:xfrm>
          <a:prstGeom prst="ellipse">
            <a:avLst/>
          </a:prstGeom>
          <a:solidFill>
            <a:srgbClr val="00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robot_w.png"/>
          <p:cNvPicPr>
            <a:picLocks noChangeAspect="1"/>
          </p:cNvPicPr>
          <p:nvPr/>
        </p:nvPicPr>
        <p:blipFill>
          <a:blip r:embed="rId7"/>
          <a:stretch>
            <a:fillRect/>
          </a:stretch>
        </p:blipFill>
        <p:spPr>
          <a:xfrm>
            <a:off x="914400" y="3867912"/>
            <a:ext cx="274320" cy="274320"/>
          </a:xfrm>
          <a:prstGeom prst="rect">
            <a:avLst/>
          </a:prstGeom>
        </p:spPr>
      </p:pic>
      <p:sp>
        <p:nvSpPr>
          <p:cNvPr id="29" name="TextBox 28"/>
          <p:cNvSpPr txBox="1"/>
          <p:nvPr/>
        </p:nvSpPr>
        <p:spPr>
          <a:xfrm>
            <a:off x="1463040" y="3730752"/>
            <a:ext cx="4389120" cy="548640"/>
          </a:xfrm>
          <a:prstGeom prst="rect">
            <a:avLst/>
          </a:prstGeom>
          <a:noFill/>
        </p:spPr>
        <p:txBody>
          <a:bodyPr wrap="square" lIns="0" tIns="0" rIns="0" bIns="0" anchor="ctr">
            <a:spAutoFit/>
          </a:bodyPr>
          <a:lstStyle/>
          <a:p>
            <a:pPr algn="l">
              <a:spcAft>
                <a:spcPts val="400"/>
              </a:spcAft>
            </a:pPr>
            <a:r>
              <a:rPr sz="1800" b="1">
                <a:solidFill>
                  <a:srgbClr val="FFFFFF"/>
                </a:solidFill>
                <a:latin typeface="Calibri"/>
              </a:rPr>
              <a:t>AI đã hỗ trợ nhóm</a:t>
            </a:r>
          </a:p>
        </p:txBody>
      </p:sp>
      <p:sp>
        <p:nvSpPr>
          <p:cNvPr id="30" name="TextBox 29"/>
          <p:cNvSpPr txBox="1"/>
          <p:nvPr/>
        </p:nvSpPr>
        <p:spPr>
          <a:xfrm>
            <a:off x="777240" y="4434840"/>
            <a:ext cx="5029200" cy="1280160"/>
          </a:xfrm>
          <a:prstGeom prst="rect">
            <a:avLst/>
          </a:prstGeom>
          <a:noFill/>
        </p:spPr>
        <p:txBody>
          <a:bodyPr wrap="square" lIns="0" tIns="0" rIns="0" bIns="0" anchor="t">
            <a:spAutoFit/>
          </a:bodyPr>
          <a:lstStyle/>
          <a:p>
            <a:pPr algn="l">
              <a:spcAft>
                <a:spcPts val="600"/>
              </a:spcAft>
            </a:pPr>
            <a:r>
              <a:rPr sz="1400" b="1">
                <a:solidFill>
                  <a:srgbClr val="FFFFFF"/>
                </a:solidFill>
                <a:latin typeface="Calibri"/>
              </a:rPr>
              <a:t>ChatGPT: </a:t>
            </a:r>
            <a:r>
              <a:rPr sz="1400" b="0">
                <a:solidFill>
                  <a:srgbClr val="FFFFFF"/>
                </a:solidFill>
                <a:latin typeface="Calibri"/>
              </a:rPr>
              <a:t>gợi ý ý tưởng, xây dựng dàn ý, giải thích một số nội dung, tham khảo cách trình bày.</a:t>
            </a:r>
          </a:p>
          <a:p>
            <a:pPr algn="l">
              <a:spcAft>
                <a:spcPts val="600"/>
              </a:spcAft>
            </a:pPr>
            <a:r>
              <a:rPr sz="1400" b="1">
                <a:solidFill>
                  <a:srgbClr val="FFFFFF"/>
                </a:solidFill>
                <a:latin typeface="Calibri"/>
              </a:rPr>
              <a:t>Gemini: </a:t>
            </a:r>
            <a:r>
              <a:rPr sz="1400" b="0">
                <a:solidFill>
                  <a:srgbClr val="FFFFFF"/>
                </a:solidFill>
                <a:latin typeface="Calibri"/>
              </a:rPr>
              <a:t>ứng dụng AI cũng hỗ trợ báo cáo.</a:t>
            </a:r>
          </a:p>
        </p:txBody>
      </p:sp>
      <p:sp>
        <p:nvSpPr>
          <p:cNvPr id="31" name="Rounded Rectangle 30"/>
          <p:cNvSpPr/>
          <p:nvPr/>
        </p:nvSpPr>
        <p:spPr>
          <a:xfrm>
            <a:off x="6199632" y="3566160"/>
            <a:ext cx="5440680" cy="219456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428232" y="3730752"/>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shield_w.png"/>
          <p:cNvPicPr>
            <a:picLocks noChangeAspect="1"/>
          </p:cNvPicPr>
          <p:nvPr/>
        </p:nvPicPr>
        <p:blipFill>
          <a:blip r:embed="rId8"/>
          <a:stretch>
            <a:fillRect/>
          </a:stretch>
        </p:blipFill>
        <p:spPr>
          <a:xfrm>
            <a:off x="6565392" y="3867912"/>
            <a:ext cx="274320" cy="274320"/>
          </a:xfrm>
          <a:prstGeom prst="rect">
            <a:avLst/>
          </a:prstGeom>
        </p:spPr>
      </p:pic>
      <p:sp>
        <p:nvSpPr>
          <p:cNvPr id="34" name="TextBox 33"/>
          <p:cNvSpPr txBox="1"/>
          <p:nvPr/>
        </p:nvSpPr>
        <p:spPr>
          <a:xfrm>
            <a:off x="7114032" y="3730752"/>
            <a:ext cx="4389120" cy="548640"/>
          </a:xfrm>
          <a:prstGeom prst="rect">
            <a:avLst/>
          </a:prstGeom>
          <a:noFill/>
        </p:spPr>
        <p:txBody>
          <a:bodyPr wrap="square" lIns="0" tIns="0" rIns="0" bIns="0" anchor="ctr">
            <a:spAutoFit/>
          </a:bodyPr>
          <a:lstStyle/>
          <a:p>
            <a:pPr algn="l">
              <a:spcAft>
                <a:spcPts val="400"/>
              </a:spcAft>
            </a:pPr>
            <a:r>
              <a:rPr sz="1800" b="1">
                <a:solidFill>
                  <a:srgbClr val="1F5CA9"/>
                </a:solidFill>
                <a:latin typeface="Calibri"/>
              </a:rPr>
              <a:t>Nhóm kiểm soát AI như thế nào</a:t>
            </a:r>
          </a:p>
        </p:txBody>
      </p:sp>
      <p:sp>
        <p:nvSpPr>
          <p:cNvPr id="35" name="TextBox 34"/>
          <p:cNvSpPr txBox="1"/>
          <p:nvPr/>
        </p:nvSpPr>
        <p:spPr>
          <a:xfrm>
            <a:off x="6428232" y="4434840"/>
            <a:ext cx="5029200" cy="1280160"/>
          </a:xfrm>
          <a:prstGeom prst="rect">
            <a:avLst/>
          </a:prstGeom>
          <a:noFill/>
        </p:spPr>
        <p:txBody>
          <a:bodyPr wrap="square" lIns="0" tIns="0" rIns="0" bIns="0" anchor="t">
            <a:spAutoFit/>
          </a:bodyPr>
          <a:lstStyle/>
          <a:p>
            <a:pPr algn="l">
              <a:spcAft>
                <a:spcPts val="500"/>
              </a:spcAft>
            </a:pPr>
            <a:r>
              <a:rPr sz="1400" b="0">
                <a:solidFill>
                  <a:srgbClr val="1F2937"/>
                </a:solidFill>
                <a:latin typeface="Calibri"/>
              </a:rPr>
              <a:t>Không dùng nguyên nội dung AI tạo ra: chọn lọc và chỉnh sửa theo cách hiểu của nhóm.</a:t>
            </a:r>
          </a:p>
          <a:p>
            <a:pPr algn="l">
              <a:spcAft>
                <a:spcPts val="500"/>
              </a:spcAft>
            </a:pPr>
            <a:r>
              <a:rPr sz="1400" b="0">
                <a:solidFill>
                  <a:srgbClr val="1F2937"/>
                </a:solidFill>
                <a:latin typeface="Calibri"/>
              </a:rPr>
              <a:t>Thông tin quan trọng được đối chiếu với tài liệu tham khảo.</a:t>
            </a:r>
          </a:p>
          <a:p>
            <a:pPr algn="l">
              <a:spcAft>
                <a:spcPts val="500"/>
              </a:spcAft>
            </a:pPr>
            <a:r>
              <a:rPr sz="1400" b="0">
                <a:solidFill>
                  <a:srgbClr val="1F2937"/>
                </a:solidFill>
                <a:latin typeface="Calibri"/>
              </a:rPr>
              <a:t>Các thành viên tự chọn nội dung và hoàn thiện báo cáo.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Tóm tắt đánh giá nguồn theo tiêu chí CRAAP</a:t>
            </a:r>
          </a:p>
        </p:txBody>
      </p:sp>
      <p:sp>
        <p:nvSpPr>
          <p:cNvPr id="3" name="Rounded Rectangle 2"/>
          <p:cNvSpPr/>
          <p:nvPr/>
        </p:nvSpPr>
        <p:spPr>
          <a:xfrm>
            <a:off x="548640" y="1280160"/>
            <a:ext cx="2057400" cy="914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371600"/>
            <a:ext cx="731520" cy="73152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C</a:t>
            </a:r>
          </a:p>
        </p:txBody>
      </p:sp>
      <p:sp>
        <p:nvSpPr>
          <p:cNvPr id="5" name="TextBox 4"/>
          <p:cNvSpPr txBox="1"/>
          <p:nvPr/>
        </p:nvSpPr>
        <p:spPr>
          <a:xfrm>
            <a:off x="1508760" y="1325880"/>
            <a:ext cx="1051560" cy="822960"/>
          </a:xfrm>
          <a:prstGeom prst="rect">
            <a:avLst/>
          </a:prstGeom>
          <a:noFill/>
        </p:spPr>
        <p:txBody>
          <a:bodyPr wrap="square" lIns="0" tIns="0" rIns="0" bIns="0" anchor="ctr">
            <a:spAutoFit/>
          </a:bodyPr>
          <a:lstStyle/>
          <a:p>
            <a:pPr algn="l">
              <a:spcAft>
                <a:spcPts val="100"/>
              </a:spcAft>
            </a:pPr>
            <a:r>
              <a:rPr sz="1400" b="1">
                <a:solidFill>
                  <a:srgbClr val="1F5CA9"/>
                </a:solidFill>
                <a:latin typeface="Calibri"/>
              </a:rPr>
              <a:t>Currency</a:t>
            </a:r>
          </a:p>
          <a:p>
            <a:pPr algn="l">
              <a:spcAft>
                <a:spcPts val="100"/>
              </a:spcAft>
            </a:pPr>
            <a:r>
              <a:rPr sz="1200" b="0">
                <a:solidFill>
                  <a:srgbClr val="1F2937"/>
                </a:solidFill>
                <a:latin typeface="Calibri"/>
              </a:rPr>
              <a:t>Tính cập nhật</a:t>
            </a:r>
          </a:p>
        </p:txBody>
      </p:sp>
      <p:sp>
        <p:nvSpPr>
          <p:cNvPr id="6" name="Rounded Rectangle 5"/>
          <p:cNvSpPr/>
          <p:nvPr/>
        </p:nvSpPr>
        <p:spPr>
          <a:xfrm>
            <a:off x="2788920" y="1280160"/>
            <a:ext cx="2057400" cy="914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926080" y="1371600"/>
            <a:ext cx="731520" cy="73152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R</a:t>
            </a:r>
          </a:p>
        </p:txBody>
      </p:sp>
      <p:sp>
        <p:nvSpPr>
          <p:cNvPr id="8" name="TextBox 7"/>
          <p:cNvSpPr txBox="1"/>
          <p:nvPr/>
        </p:nvSpPr>
        <p:spPr>
          <a:xfrm>
            <a:off x="3749040" y="1325880"/>
            <a:ext cx="1051560" cy="822960"/>
          </a:xfrm>
          <a:prstGeom prst="rect">
            <a:avLst/>
          </a:prstGeom>
          <a:noFill/>
        </p:spPr>
        <p:txBody>
          <a:bodyPr wrap="square" lIns="0" tIns="0" rIns="0" bIns="0" anchor="ctr">
            <a:spAutoFit/>
          </a:bodyPr>
          <a:lstStyle/>
          <a:p>
            <a:pPr algn="l">
              <a:spcAft>
                <a:spcPts val="100"/>
              </a:spcAft>
            </a:pPr>
            <a:r>
              <a:rPr sz="1400" b="1">
                <a:solidFill>
                  <a:srgbClr val="1F5CA9"/>
                </a:solidFill>
                <a:latin typeface="Calibri"/>
              </a:rPr>
              <a:t>Relevance</a:t>
            </a:r>
          </a:p>
          <a:p>
            <a:pPr algn="l">
              <a:spcAft>
                <a:spcPts val="100"/>
              </a:spcAft>
            </a:pPr>
            <a:r>
              <a:rPr sz="1200" b="0">
                <a:solidFill>
                  <a:srgbClr val="1F2937"/>
                </a:solidFill>
                <a:latin typeface="Calibri"/>
              </a:rPr>
              <a:t>Mức độ liên quan</a:t>
            </a:r>
          </a:p>
        </p:txBody>
      </p:sp>
      <p:sp>
        <p:nvSpPr>
          <p:cNvPr id="9" name="Rounded Rectangle 8"/>
          <p:cNvSpPr/>
          <p:nvPr/>
        </p:nvSpPr>
        <p:spPr>
          <a:xfrm>
            <a:off x="5029200" y="1280160"/>
            <a:ext cx="2057400" cy="914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166360" y="1371600"/>
            <a:ext cx="731520" cy="73152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A</a:t>
            </a:r>
          </a:p>
        </p:txBody>
      </p:sp>
      <p:sp>
        <p:nvSpPr>
          <p:cNvPr id="11" name="TextBox 10"/>
          <p:cNvSpPr txBox="1"/>
          <p:nvPr/>
        </p:nvSpPr>
        <p:spPr>
          <a:xfrm>
            <a:off x="5989320" y="1325880"/>
            <a:ext cx="1051560" cy="822960"/>
          </a:xfrm>
          <a:prstGeom prst="rect">
            <a:avLst/>
          </a:prstGeom>
          <a:noFill/>
        </p:spPr>
        <p:txBody>
          <a:bodyPr wrap="square" lIns="0" tIns="0" rIns="0" bIns="0" anchor="ctr">
            <a:spAutoFit/>
          </a:bodyPr>
          <a:lstStyle/>
          <a:p>
            <a:pPr algn="l">
              <a:spcAft>
                <a:spcPts val="100"/>
              </a:spcAft>
            </a:pPr>
            <a:r>
              <a:rPr sz="1400" b="1">
                <a:solidFill>
                  <a:srgbClr val="1F5CA9"/>
                </a:solidFill>
                <a:latin typeface="Calibri"/>
              </a:rPr>
              <a:t>Authority</a:t>
            </a:r>
          </a:p>
          <a:p>
            <a:pPr algn="l">
              <a:spcAft>
                <a:spcPts val="100"/>
              </a:spcAft>
            </a:pPr>
            <a:r>
              <a:rPr sz="1200" b="0">
                <a:solidFill>
                  <a:srgbClr val="1F2937"/>
                </a:solidFill>
                <a:latin typeface="Calibri"/>
              </a:rPr>
              <a:t>Thẩm quyền tác giả / tổ chức</a:t>
            </a:r>
          </a:p>
        </p:txBody>
      </p:sp>
      <p:sp>
        <p:nvSpPr>
          <p:cNvPr id="12" name="Rounded Rectangle 11"/>
          <p:cNvSpPr/>
          <p:nvPr/>
        </p:nvSpPr>
        <p:spPr>
          <a:xfrm>
            <a:off x="7269480" y="1280160"/>
            <a:ext cx="2057400" cy="914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406640" y="1371600"/>
            <a:ext cx="731520" cy="73152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A</a:t>
            </a:r>
          </a:p>
        </p:txBody>
      </p:sp>
      <p:sp>
        <p:nvSpPr>
          <p:cNvPr id="14" name="TextBox 13"/>
          <p:cNvSpPr txBox="1"/>
          <p:nvPr/>
        </p:nvSpPr>
        <p:spPr>
          <a:xfrm>
            <a:off x="8229600" y="1325880"/>
            <a:ext cx="1051560" cy="822960"/>
          </a:xfrm>
          <a:prstGeom prst="rect">
            <a:avLst/>
          </a:prstGeom>
          <a:noFill/>
        </p:spPr>
        <p:txBody>
          <a:bodyPr wrap="square" lIns="0" tIns="0" rIns="0" bIns="0" anchor="ctr">
            <a:spAutoFit/>
          </a:bodyPr>
          <a:lstStyle/>
          <a:p>
            <a:pPr algn="l">
              <a:spcAft>
                <a:spcPts val="100"/>
              </a:spcAft>
            </a:pPr>
            <a:r>
              <a:rPr sz="1400" b="1">
                <a:solidFill>
                  <a:srgbClr val="1F5CA9"/>
                </a:solidFill>
                <a:latin typeface="Calibri"/>
              </a:rPr>
              <a:t>Accuracy</a:t>
            </a:r>
          </a:p>
          <a:p>
            <a:pPr algn="l">
              <a:spcAft>
                <a:spcPts val="100"/>
              </a:spcAft>
            </a:pPr>
            <a:r>
              <a:rPr sz="1200" b="0">
                <a:solidFill>
                  <a:srgbClr val="1F2937"/>
                </a:solidFill>
                <a:latin typeface="Calibri"/>
              </a:rPr>
              <a:t>Độ chính xác</a:t>
            </a:r>
          </a:p>
        </p:txBody>
      </p:sp>
      <p:sp>
        <p:nvSpPr>
          <p:cNvPr id="15" name="Rounded Rectangle 14"/>
          <p:cNvSpPr/>
          <p:nvPr/>
        </p:nvSpPr>
        <p:spPr>
          <a:xfrm>
            <a:off x="9509760" y="1280160"/>
            <a:ext cx="2057400" cy="914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646920" y="1371600"/>
            <a:ext cx="731520" cy="73152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P</a:t>
            </a:r>
          </a:p>
        </p:txBody>
      </p:sp>
      <p:sp>
        <p:nvSpPr>
          <p:cNvPr id="17" name="TextBox 16"/>
          <p:cNvSpPr txBox="1"/>
          <p:nvPr/>
        </p:nvSpPr>
        <p:spPr>
          <a:xfrm>
            <a:off x="10469880" y="1325880"/>
            <a:ext cx="1051560" cy="822960"/>
          </a:xfrm>
          <a:prstGeom prst="rect">
            <a:avLst/>
          </a:prstGeom>
          <a:noFill/>
        </p:spPr>
        <p:txBody>
          <a:bodyPr wrap="square" lIns="0" tIns="0" rIns="0" bIns="0" anchor="ctr">
            <a:spAutoFit/>
          </a:bodyPr>
          <a:lstStyle/>
          <a:p>
            <a:pPr algn="l">
              <a:spcAft>
                <a:spcPts val="100"/>
              </a:spcAft>
            </a:pPr>
            <a:r>
              <a:rPr sz="1400" b="1">
                <a:solidFill>
                  <a:srgbClr val="1F5CA9"/>
                </a:solidFill>
                <a:latin typeface="Calibri"/>
              </a:rPr>
              <a:t>Purpose</a:t>
            </a:r>
          </a:p>
          <a:p>
            <a:pPr algn="l">
              <a:spcAft>
                <a:spcPts val="100"/>
              </a:spcAft>
            </a:pPr>
            <a:r>
              <a:rPr sz="1200" b="0">
                <a:solidFill>
                  <a:srgbClr val="1F2937"/>
                </a:solidFill>
                <a:latin typeface="Calibri"/>
              </a:rPr>
              <a:t>Mục đích cung cấp thông tin</a:t>
            </a:r>
          </a:p>
        </p:txBody>
      </p:sp>
      <p:pic>
        <p:nvPicPr>
          <p:cNvPr id="18" name="Picture 17" descr="craap.png"/>
          <p:cNvPicPr>
            <a:picLocks noChangeAspect="1"/>
          </p:cNvPicPr>
          <p:nvPr/>
        </p:nvPicPr>
        <p:blipFill>
          <a:blip r:embed="rId3"/>
          <a:stretch>
            <a:fillRect/>
          </a:stretch>
        </p:blipFill>
        <p:spPr>
          <a:xfrm>
            <a:off x="1569567" y="2377440"/>
            <a:ext cx="9052560" cy="3208798"/>
          </a:xfrm>
          <a:prstGeom prst="rect">
            <a:avLst/>
          </a:prstGeom>
        </p:spPr>
      </p:pic>
      <p:sp>
        <p:nvSpPr>
          <p:cNvPr id="19" name="TextBox 18"/>
          <p:cNvSpPr txBox="1"/>
          <p:nvPr/>
        </p:nvSpPr>
        <p:spPr>
          <a:xfrm>
            <a:off x="548640" y="5677678"/>
            <a:ext cx="11091672" cy="184666"/>
          </a:xfrm>
          <a:prstGeom prst="rect">
            <a:avLst/>
          </a:prstGeom>
          <a:noFill/>
        </p:spPr>
        <p:txBody>
          <a:bodyPr wrap="square" lIns="0" tIns="0" rIns="0" bIns="0" anchor="t">
            <a:spAutoFit/>
          </a:bodyPr>
          <a:lstStyle/>
          <a:p>
            <a:pPr algn="ctr">
              <a:spcAft>
                <a:spcPts val="400"/>
              </a:spcAft>
            </a:pPr>
            <a:r>
              <a:rPr sz="1200" b="0" dirty="0" err="1">
                <a:solidFill>
                  <a:srgbClr val="5B6778"/>
                </a:solidFill>
                <a:latin typeface="Calibri"/>
              </a:rPr>
              <a:t>Hình</a:t>
            </a:r>
            <a:r>
              <a:rPr lang="en-US" sz="1200" b="0" dirty="0">
                <a:solidFill>
                  <a:srgbClr val="5B6778"/>
                </a:solidFill>
                <a:latin typeface="Calibri"/>
              </a:rPr>
              <a:t> </a:t>
            </a:r>
            <a:r>
              <a:rPr lang="en-US" sz="1200" b="0" dirty="0" err="1">
                <a:solidFill>
                  <a:srgbClr val="5B6778"/>
                </a:solidFill>
                <a:latin typeface="Calibri"/>
              </a:rPr>
              <a:t>ảnh</a:t>
            </a:r>
            <a:r>
              <a:rPr sz="1200" b="0" dirty="0">
                <a:solidFill>
                  <a:srgbClr val="5B6778"/>
                </a:solidFill>
                <a:latin typeface="Calibri"/>
              </a:rPr>
              <a:t>: </a:t>
            </a:r>
            <a:r>
              <a:rPr sz="1200" b="0" dirty="0" err="1">
                <a:solidFill>
                  <a:srgbClr val="5B6778"/>
                </a:solidFill>
                <a:latin typeface="Calibri"/>
              </a:rPr>
              <a:t>Kết</a:t>
            </a:r>
            <a:r>
              <a:rPr sz="1200" b="0" dirty="0">
                <a:solidFill>
                  <a:srgbClr val="5B6778"/>
                </a:solidFill>
                <a:latin typeface="Calibri"/>
              </a:rPr>
              <a:t> </a:t>
            </a:r>
            <a:r>
              <a:rPr sz="1200" b="0" dirty="0" err="1">
                <a:solidFill>
                  <a:srgbClr val="5B6778"/>
                </a:solidFill>
                <a:latin typeface="Calibri"/>
              </a:rPr>
              <a:t>quả</a:t>
            </a:r>
            <a:r>
              <a:rPr sz="1200" b="0" dirty="0">
                <a:solidFill>
                  <a:srgbClr val="5B6778"/>
                </a:solidFill>
                <a:latin typeface="Calibri"/>
              </a:rPr>
              <a:t> </a:t>
            </a:r>
            <a:r>
              <a:rPr sz="1200" b="0" dirty="0" err="1">
                <a:solidFill>
                  <a:srgbClr val="5B6778"/>
                </a:solidFill>
                <a:latin typeface="Calibri"/>
              </a:rPr>
              <a:t>đánh</a:t>
            </a:r>
            <a:r>
              <a:rPr sz="1200" b="0" dirty="0">
                <a:solidFill>
                  <a:srgbClr val="5B6778"/>
                </a:solidFill>
                <a:latin typeface="Calibri"/>
              </a:rPr>
              <a:t> </a:t>
            </a:r>
            <a:r>
              <a:rPr sz="1200" b="0" dirty="0" err="1">
                <a:solidFill>
                  <a:srgbClr val="5B6778"/>
                </a:solidFill>
                <a:latin typeface="Calibri"/>
              </a:rPr>
              <a:t>giá</a:t>
            </a:r>
            <a:r>
              <a:rPr sz="1200" b="0" dirty="0">
                <a:solidFill>
                  <a:srgbClr val="5B6778"/>
                </a:solidFill>
                <a:latin typeface="Calibri"/>
              </a:rPr>
              <a:t> 7 </a:t>
            </a:r>
            <a:r>
              <a:rPr sz="1200" b="0" dirty="0" err="1">
                <a:solidFill>
                  <a:srgbClr val="5B6778"/>
                </a:solidFill>
                <a:latin typeface="Calibri"/>
              </a:rPr>
              <a:t>nguồn</a:t>
            </a:r>
            <a:endParaRPr sz="1200" b="0" dirty="0">
              <a:solidFill>
                <a:srgbClr val="5B6778"/>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Kết quả CRAAP: nguồn nào đáng tin?</a:t>
            </a:r>
          </a:p>
        </p:txBody>
      </p:sp>
      <p:sp>
        <p:nvSpPr>
          <p:cNvPr id="3" name="Rounded Rectangle 2"/>
          <p:cNvSpPr/>
          <p:nvPr/>
        </p:nvSpPr>
        <p:spPr>
          <a:xfrm>
            <a:off x="548640" y="1280160"/>
            <a:ext cx="6492240" cy="4480560"/>
          </a:xfrm>
          <a:prstGeom prst="roundRect">
            <a:avLst>
              <a:gd name="adj" fmla="val 3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Chart 3"/>
          <p:cNvGraphicFramePr>
            <a:graphicFrameLocks noGrp="1"/>
          </p:cNvGraphicFramePr>
          <p:nvPr/>
        </p:nvGraphicFramePr>
        <p:xfrm>
          <a:off x="685800" y="1371600"/>
          <a:ext cx="621792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7269480" y="1280160"/>
            <a:ext cx="4370832" cy="2148840"/>
          </a:xfrm>
          <a:prstGeom prst="roundRect">
            <a:avLst>
              <a:gd name="adj" fmla="val 5000"/>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79" y="1417320"/>
            <a:ext cx="3931920" cy="365760"/>
          </a:xfrm>
          <a:prstGeom prst="rect">
            <a:avLst/>
          </a:prstGeom>
          <a:noFill/>
        </p:spPr>
        <p:txBody>
          <a:bodyPr wrap="square" lIns="0" tIns="0" rIns="0" bIns="0" anchor="t">
            <a:spAutoFit/>
          </a:bodyPr>
          <a:lstStyle/>
          <a:p>
            <a:pPr algn="l">
              <a:spcAft>
                <a:spcPts val="400"/>
              </a:spcAft>
            </a:pPr>
            <a:r>
              <a:rPr sz="1600" b="1">
                <a:solidFill>
                  <a:srgbClr val="FFFFFF"/>
                </a:solidFill>
                <a:latin typeface="Calibri"/>
              </a:rPr>
              <a:t>Nguồn đáng tin cậy (20–24/25)</a:t>
            </a:r>
          </a:p>
        </p:txBody>
      </p:sp>
      <p:sp>
        <p:nvSpPr>
          <p:cNvPr id="7" name="TextBox 6"/>
          <p:cNvSpPr txBox="1"/>
          <p:nvPr/>
        </p:nvSpPr>
        <p:spPr>
          <a:xfrm>
            <a:off x="7498079" y="1874519"/>
            <a:ext cx="3931920" cy="1554480"/>
          </a:xfrm>
          <a:prstGeom prst="rect">
            <a:avLst/>
          </a:prstGeom>
          <a:noFill/>
        </p:spPr>
        <p:txBody>
          <a:bodyPr wrap="square" lIns="0" tIns="0" rIns="0" bIns="0" anchor="t">
            <a:spAutoFit/>
          </a:bodyPr>
          <a:lstStyle/>
          <a:p>
            <a:pPr algn="l">
              <a:spcAft>
                <a:spcPts val="500"/>
              </a:spcAft>
            </a:pPr>
            <a:r>
              <a:rPr sz="1400" b="0">
                <a:solidFill>
                  <a:srgbClr val="FFFFFF"/>
                </a:solidFill>
                <a:latin typeface="Calibri"/>
              </a:rPr>
              <a:t>OECD, Pew, Stanford: tổ chức nghiên cứu, mẫu và phương pháp rõ ràng, số liệu công khai.</a:t>
            </a:r>
          </a:p>
          <a:p>
            <a:pPr algn="l">
              <a:spcAft>
                <a:spcPts val="500"/>
              </a:spcAft>
            </a:pPr>
            <a:r>
              <a:rPr sz="1400" b="0">
                <a:solidFill>
                  <a:srgbClr val="FFFFFF"/>
                </a:solidFill>
                <a:latin typeface="Calibri"/>
              </a:rPr>
              <a:t>Capgemini, UNESCO: dùng được, kèm hạn chế về mục đích hoặc phạm vi.</a:t>
            </a:r>
          </a:p>
        </p:txBody>
      </p:sp>
      <p:sp>
        <p:nvSpPr>
          <p:cNvPr id="8" name="Rounded Rectangle 7"/>
          <p:cNvSpPr/>
          <p:nvPr/>
        </p:nvSpPr>
        <p:spPr>
          <a:xfrm>
            <a:off x="7269480" y="3611880"/>
            <a:ext cx="4370832" cy="2148840"/>
          </a:xfrm>
          <a:prstGeom prst="roundRect">
            <a:avLst>
              <a:gd name="adj" fmla="val 5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3749039"/>
            <a:ext cx="3931920" cy="365760"/>
          </a:xfrm>
          <a:prstGeom prst="rect">
            <a:avLst/>
          </a:prstGeom>
          <a:noFill/>
        </p:spPr>
        <p:txBody>
          <a:bodyPr wrap="square" lIns="0" tIns="0" rIns="0" bIns="0" anchor="t">
            <a:spAutoFit/>
          </a:bodyPr>
          <a:lstStyle/>
          <a:p>
            <a:pPr algn="l">
              <a:spcAft>
                <a:spcPts val="400"/>
              </a:spcAft>
            </a:pPr>
            <a:r>
              <a:rPr sz="1600" b="1">
                <a:solidFill>
                  <a:srgbClr val="E08A00"/>
                </a:solidFill>
                <a:latin typeface="Calibri"/>
              </a:rPr>
              <a:t>Dùng hạn chế (12–13/25)</a:t>
            </a:r>
          </a:p>
        </p:txBody>
      </p:sp>
      <p:sp>
        <p:nvSpPr>
          <p:cNvPr id="10" name="TextBox 9"/>
          <p:cNvSpPr txBox="1"/>
          <p:nvPr/>
        </p:nvSpPr>
        <p:spPr>
          <a:xfrm>
            <a:off x="7498079" y="4206240"/>
            <a:ext cx="3931920" cy="1554480"/>
          </a:xfrm>
          <a:prstGeom prst="rect">
            <a:avLst/>
          </a:prstGeom>
          <a:noFill/>
        </p:spPr>
        <p:txBody>
          <a:bodyPr wrap="square" lIns="0" tIns="0" rIns="0" bIns="0" anchor="t">
            <a:spAutoFit/>
          </a:bodyPr>
          <a:lstStyle/>
          <a:p>
            <a:pPr algn="l">
              <a:spcAft>
                <a:spcPts val="500"/>
              </a:spcAft>
            </a:pPr>
            <a:r>
              <a:rPr sz="1400" b="0">
                <a:solidFill>
                  <a:srgbClr val="1F2937"/>
                </a:solidFill>
                <a:latin typeface="Calibri"/>
              </a:rPr>
              <a:t>Microsoft–LinkedIn: có xung đột lợi ích, số liệu do người dùng tự báo cáo.</a:t>
            </a:r>
          </a:p>
          <a:p>
            <a:pPr algn="l">
              <a:spcAft>
                <a:spcPts val="500"/>
              </a:spcAft>
            </a:pPr>
            <a:r>
              <a:rPr sz="1400" b="0">
                <a:solidFill>
                  <a:srgbClr val="1F2937"/>
                </a:solidFill>
                <a:latin typeface="Calibri"/>
              </a:rPr>
              <a:t>Enterprise Nation: nhà tư vấn quảng bá dịch vụ, chỉ dùng làm ví dụ minh họa.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Video minh họa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a:t>Rủi ro và nguyên tắc dùng AI</a:t>
            </a:r>
          </a:p>
        </p:txBody>
      </p:sp>
      <p:sp>
        <p:nvSpPr>
          <p:cNvPr id="3" name="TextBox 2"/>
          <p:cNvSpPr txBox="1"/>
          <p:nvPr/>
        </p:nvSpPr>
        <p:spPr>
          <a:xfrm>
            <a:off x="548640" y="1234440"/>
            <a:ext cx="5394960" cy="411480"/>
          </a:xfrm>
          <a:prstGeom prst="rect">
            <a:avLst/>
          </a:prstGeom>
          <a:noFill/>
        </p:spPr>
        <p:txBody>
          <a:bodyPr wrap="square" lIns="0" tIns="0" rIns="0" bIns="0" anchor="t">
            <a:spAutoFit/>
          </a:bodyPr>
          <a:lstStyle/>
          <a:p>
            <a:pPr algn="l">
              <a:spcAft>
                <a:spcPts val="400"/>
              </a:spcAft>
            </a:pPr>
            <a:r>
              <a:rPr sz="2000" b="1">
                <a:solidFill>
                  <a:srgbClr val="E08A00"/>
                </a:solidFill>
                <a:latin typeface="Calibri"/>
              </a:rPr>
              <a:t>Rủi ro khi lạm dụng AI</a:t>
            </a:r>
          </a:p>
        </p:txBody>
      </p:sp>
      <p:sp>
        <p:nvSpPr>
          <p:cNvPr id="4" name="Rounded Rectangle 3"/>
          <p:cNvSpPr/>
          <p:nvPr/>
        </p:nvSpPr>
        <p:spPr>
          <a:xfrm>
            <a:off x="548640" y="1737360"/>
            <a:ext cx="5394960" cy="868680"/>
          </a:xfrm>
          <a:prstGeom prst="roundRect">
            <a:avLst>
              <a:gd name="adj" fmla="val 1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892807"/>
            <a:ext cx="548640" cy="54864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warn_w.png"/>
          <p:cNvPicPr>
            <a:picLocks noChangeAspect="1"/>
          </p:cNvPicPr>
          <p:nvPr/>
        </p:nvPicPr>
        <p:blipFill>
          <a:blip r:embed="rId3"/>
          <a:stretch>
            <a:fillRect/>
          </a:stretch>
        </p:blipFill>
        <p:spPr>
          <a:xfrm>
            <a:off x="822960" y="2029967"/>
            <a:ext cx="274320" cy="274320"/>
          </a:xfrm>
          <a:prstGeom prst="rect">
            <a:avLst/>
          </a:prstGeom>
        </p:spPr>
      </p:pic>
      <p:sp>
        <p:nvSpPr>
          <p:cNvPr id="7" name="TextBox 6"/>
          <p:cNvSpPr txBox="1"/>
          <p:nvPr/>
        </p:nvSpPr>
        <p:spPr>
          <a:xfrm>
            <a:off x="1417320" y="1737360"/>
            <a:ext cx="4434840" cy="868680"/>
          </a:xfrm>
          <a:prstGeom prst="rect">
            <a:avLst/>
          </a:prstGeom>
          <a:noFill/>
        </p:spPr>
        <p:txBody>
          <a:bodyPr wrap="square" lIns="0" tIns="0" rIns="0" bIns="0" anchor="ctr">
            <a:spAutoFit/>
          </a:bodyPr>
          <a:lstStyle/>
          <a:p>
            <a:pPr algn="l">
              <a:spcAft>
                <a:spcPts val="400"/>
              </a:spcAft>
            </a:pPr>
            <a:r>
              <a:rPr sz="1500" b="1">
                <a:solidFill>
                  <a:srgbClr val="E08A00"/>
                </a:solidFill>
                <a:latin typeface="Calibri"/>
              </a:rPr>
              <a:t>Độ chính xác: </a:t>
            </a:r>
            <a:r>
              <a:rPr sz="1500" b="0">
                <a:solidFill>
                  <a:srgbClr val="1F2937"/>
                </a:solidFill>
                <a:latin typeface="Calibri"/>
              </a:rPr>
              <a:t>Dễ cho thông tin sai, không có nguồn kiểm chứng</a:t>
            </a:r>
          </a:p>
        </p:txBody>
      </p:sp>
      <p:sp>
        <p:nvSpPr>
          <p:cNvPr id="8" name="Rounded Rectangle 7"/>
          <p:cNvSpPr/>
          <p:nvPr/>
        </p:nvSpPr>
        <p:spPr>
          <a:xfrm>
            <a:off x="548640" y="2743200"/>
            <a:ext cx="5394960" cy="868680"/>
          </a:xfrm>
          <a:prstGeom prst="roundRect">
            <a:avLst>
              <a:gd name="adj" fmla="val 1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85800" y="2898648"/>
            <a:ext cx="548640" cy="54864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leep_w.png"/>
          <p:cNvPicPr>
            <a:picLocks noChangeAspect="1"/>
          </p:cNvPicPr>
          <p:nvPr/>
        </p:nvPicPr>
        <p:blipFill>
          <a:blip r:embed="rId4"/>
          <a:stretch>
            <a:fillRect/>
          </a:stretch>
        </p:blipFill>
        <p:spPr>
          <a:xfrm>
            <a:off x="822960" y="3035808"/>
            <a:ext cx="274320" cy="274320"/>
          </a:xfrm>
          <a:prstGeom prst="rect">
            <a:avLst/>
          </a:prstGeom>
        </p:spPr>
      </p:pic>
      <p:sp>
        <p:nvSpPr>
          <p:cNvPr id="11" name="TextBox 10"/>
          <p:cNvSpPr txBox="1"/>
          <p:nvPr/>
        </p:nvSpPr>
        <p:spPr>
          <a:xfrm>
            <a:off x="1417320" y="2743200"/>
            <a:ext cx="4434840" cy="868680"/>
          </a:xfrm>
          <a:prstGeom prst="rect">
            <a:avLst/>
          </a:prstGeom>
          <a:noFill/>
        </p:spPr>
        <p:txBody>
          <a:bodyPr wrap="square" lIns="0" tIns="0" rIns="0" bIns="0" anchor="ctr">
            <a:spAutoFit/>
          </a:bodyPr>
          <a:lstStyle/>
          <a:p>
            <a:pPr algn="l">
              <a:spcAft>
                <a:spcPts val="400"/>
              </a:spcAft>
            </a:pPr>
            <a:r>
              <a:rPr sz="1500" b="1">
                <a:solidFill>
                  <a:srgbClr val="E08A00"/>
                </a:solidFill>
                <a:latin typeface="Calibri"/>
              </a:rPr>
              <a:t>Thói quen ỷ lại: </a:t>
            </a:r>
            <a:r>
              <a:rPr sz="1500" b="0">
                <a:solidFill>
                  <a:srgbClr val="1F2937"/>
                </a:solidFill>
                <a:latin typeface="Calibri"/>
              </a:rPr>
              <a:t>Giảm tư duy độc lập, học thụ động</a:t>
            </a:r>
          </a:p>
        </p:txBody>
      </p:sp>
      <p:sp>
        <p:nvSpPr>
          <p:cNvPr id="12" name="Rounded Rectangle 11"/>
          <p:cNvSpPr/>
          <p:nvPr/>
        </p:nvSpPr>
        <p:spPr>
          <a:xfrm>
            <a:off x="548640" y="3749039"/>
            <a:ext cx="5394960" cy="868680"/>
          </a:xfrm>
          <a:prstGeom prst="roundRect">
            <a:avLst>
              <a:gd name="adj" fmla="val 1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5800" y="3904487"/>
            <a:ext cx="548640" cy="54864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lock_w.png"/>
          <p:cNvPicPr>
            <a:picLocks noChangeAspect="1"/>
          </p:cNvPicPr>
          <p:nvPr/>
        </p:nvPicPr>
        <p:blipFill>
          <a:blip r:embed="rId5"/>
          <a:stretch>
            <a:fillRect/>
          </a:stretch>
        </p:blipFill>
        <p:spPr>
          <a:xfrm>
            <a:off x="822960" y="4041648"/>
            <a:ext cx="274320" cy="274320"/>
          </a:xfrm>
          <a:prstGeom prst="rect">
            <a:avLst/>
          </a:prstGeom>
        </p:spPr>
      </p:pic>
      <p:sp>
        <p:nvSpPr>
          <p:cNvPr id="15" name="TextBox 14"/>
          <p:cNvSpPr txBox="1"/>
          <p:nvPr/>
        </p:nvSpPr>
        <p:spPr>
          <a:xfrm>
            <a:off x="1417320" y="3749039"/>
            <a:ext cx="4434840" cy="868680"/>
          </a:xfrm>
          <a:prstGeom prst="rect">
            <a:avLst/>
          </a:prstGeom>
          <a:noFill/>
        </p:spPr>
        <p:txBody>
          <a:bodyPr wrap="square" lIns="0" tIns="0" rIns="0" bIns="0" anchor="ctr">
            <a:spAutoFit/>
          </a:bodyPr>
          <a:lstStyle/>
          <a:p>
            <a:pPr algn="l">
              <a:spcAft>
                <a:spcPts val="400"/>
              </a:spcAft>
            </a:pPr>
            <a:r>
              <a:rPr sz="1500" b="1">
                <a:solidFill>
                  <a:srgbClr val="E08A00"/>
                </a:solidFill>
                <a:latin typeface="Calibri"/>
              </a:rPr>
              <a:t>Bảo mật: </a:t>
            </a:r>
            <a:r>
              <a:rPr sz="1500" b="0">
                <a:solidFill>
                  <a:srgbClr val="1F2937"/>
                </a:solidFill>
                <a:latin typeface="Calibri"/>
              </a:rPr>
              <a:t>Lộ thông tin cá nhân khi nhập dữ liệu riêng tư</a:t>
            </a:r>
          </a:p>
        </p:txBody>
      </p:sp>
      <p:sp>
        <p:nvSpPr>
          <p:cNvPr id="16" name="Rounded Rectangle 15"/>
          <p:cNvSpPr/>
          <p:nvPr/>
        </p:nvSpPr>
        <p:spPr>
          <a:xfrm>
            <a:off x="548640" y="4754880"/>
            <a:ext cx="5394960" cy="868680"/>
          </a:xfrm>
          <a:prstGeom prst="roundRect">
            <a:avLst>
              <a:gd name="adj" fmla="val 1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85800" y="4910328"/>
            <a:ext cx="548640" cy="54864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cale_w.png"/>
          <p:cNvPicPr>
            <a:picLocks noChangeAspect="1"/>
          </p:cNvPicPr>
          <p:nvPr/>
        </p:nvPicPr>
        <p:blipFill>
          <a:blip r:embed="rId6"/>
          <a:stretch>
            <a:fillRect/>
          </a:stretch>
        </p:blipFill>
        <p:spPr>
          <a:xfrm>
            <a:off x="822960" y="5047488"/>
            <a:ext cx="274320" cy="274320"/>
          </a:xfrm>
          <a:prstGeom prst="rect">
            <a:avLst/>
          </a:prstGeom>
        </p:spPr>
      </p:pic>
      <p:sp>
        <p:nvSpPr>
          <p:cNvPr id="19" name="TextBox 18"/>
          <p:cNvSpPr txBox="1"/>
          <p:nvPr/>
        </p:nvSpPr>
        <p:spPr>
          <a:xfrm>
            <a:off x="1417320" y="4754880"/>
            <a:ext cx="4434840" cy="868680"/>
          </a:xfrm>
          <a:prstGeom prst="rect">
            <a:avLst/>
          </a:prstGeom>
          <a:noFill/>
        </p:spPr>
        <p:txBody>
          <a:bodyPr wrap="square" lIns="0" tIns="0" rIns="0" bIns="0" anchor="ctr">
            <a:spAutoFit/>
          </a:bodyPr>
          <a:lstStyle/>
          <a:p>
            <a:pPr algn="l">
              <a:spcAft>
                <a:spcPts val="400"/>
              </a:spcAft>
            </a:pPr>
            <a:r>
              <a:rPr sz="1500" b="1">
                <a:solidFill>
                  <a:srgbClr val="E08A00"/>
                </a:solidFill>
                <a:latin typeface="Calibri"/>
              </a:rPr>
              <a:t>Định kiến: </a:t>
            </a:r>
            <a:r>
              <a:rPr sz="1500" b="0">
                <a:solidFill>
                  <a:srgbClr val="1F2937"/>
                </a:solidFill>
                <a:latin typeface="Calibri"/>
              </a:rPr>
              <a:t>Kết quả lệch theo dữ liệu huấn luyện (theo NIST)</a:t>
            </a:r>
          </a:p>
        </p:txBody>
      </p:sp>
      <p:sp>
        <p:nvSpPr>
          <p:cNvPr id="20" name="TextBox 19"/>
          <p:cNvSpPr txBox="1"/>
          <p:nvPr/>
        </p:nvSpPr>
        <p:spPr>
          <a:xfrm>
            <a:off x="6245352" y="1234440"/>
            <a:ext cx="5394960" cy="411480"/>
          </a:xfrm>
          <a:prstGeom prst="rect">
            <a:avLst/>
          </a:prstGeom>
          <a:noFill/>
        </p:spPr>
        <p:txBody>
          <a:bodyPr wrap="square" lIns="0" tIns="0" rIns="0" bIns="0" anchor="t">
            <a:spAutoFit/>
          </a:bodyPr>
          <a:lstStyle/>
          <a:p>
            <a:pPr algn="l">
              <a:spcAft>
                <a:spcPts val="400"/>
              </a:spcAft>
            </a:pPr>
            <a:r>
              <a:rPr sz="2000" b="1">
                <a:solidFill>
                  <a:srgbClr val="1F5CA9"/>
                </a:solidFill>
                <a:latin typeface="Calibri"/>
              </a:rPr>
              <a:t>Nguyên tắc sử dụng có trách nhiệm</a:t>
            </a:r>
          </a:p>
        </p:txBody>
      </p:sp>
      <p:sp>
        <p:nvSpPr>
          <p:cNvPr id="21" name="Rounded Rectangle 20"/>
          <p:cNvSpPr/>
          <p:nvPr/>
        </p:nvSpPr>
        <p:spPr>
          <a:xfrm>
            <a:off x="6245352" y="1737360"/>
            <a:ext cx="5394960"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355080" y="1828800"/>
            <a:ext cx="512064" cy="512064"/>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heck_w.png"/>
          <p:cNvPicPr>
            <a:picLocks noChangeAspect="1"/>
          </p:cNvPicPr>
          <p:nvPr/>
        </p:nvPicPr>
        <p:blipFill>
          <a:blip r:embed="rId7"/>
          <a:stretch>
            <a:fillRect/>
          </a:stretch>
        </p:blipFill>
        <p:spPr>
          <a:xfrm>
            <a:off x="6483096" y="1956816"/>
            <a:ext cx="256032" cy="256032"/>
          </a:xfrm>
          <a:prstGeom prst="rect">
            <a:avLst/>
          </a:prstGeom>
        </p:spPr>
      </p:pic>
      <p:sp>
        <p:nvSpPr>
          <p:cNvPr id="24" name="TextBox 23"/>
          <p:cNvSpPr txBox="1"/>
          <p:nvPr/>
        </p:nvSpPr>
        <p:spPr>
          <a:xfrm>
            <a:off x="7040880" y="1737360"/>
            <a:ext cx="4526280" cy="694944"/>
          </a:xfrm>
          <a:prstGeom prst="rect">
            <a:avLst/>
          </a:prstGeom>
          <a:noFill/>
        </p:spPr>
        <p:txBody>
          <a:bodyPr wrap="square" lIns="0" tIns="0" rIns="0" bIns="0" anchor="ctr">
            <a:spAutoFit/>
          </a:bodyPr>
          <a:lstStyle/>
          <a:p>
            <a:pPr algn="l">
              <a:spcAft>
                <a:spcPts val="400"/>
              </a:spcAft>
            </a:pPr>
            <a:r>
              <a:rPr sz="1400" b="1">
                <a:solidFill>
                  <a:srgbClr val="1F5CA9"/>
                </a:solidFill>
                <a:latin typeface="Calibri"/>
              </a:rPr>
              <a:t>Luôn kiểm tra lại: </a:t>
            </a:r>
            <a:r>
              <a:rPr sz="1400" b="0">
                <a:solidFill>
                  <a:srgbClr val="1F2937"/>
                </a:solidFill>
                <a:latin typeface="Calibri"/>
              </a:rPr>
              <a:t>đối chiếu với sách vở, trang web chuẩn</a:t>
            </a:r>
          </a:p>
        </p:txBody>
      </p:sp>
      <p:sp>
        <p:nvSpPr>
          <p:cNvPr id="25" name="Rounded Rectangle 24"/>
          <p:cNvSpPr/>
          <p:nvPr/>
        </p:nvSpPr>
        <p:spPr>
          <a:xfrm>
            <a:off x="6245352" y="2542032"/>
            <a:ext cx="5394960"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55080" y="2633472"/>
            <a:ext cx="512064" cy="512064"/>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eck_w.png"/>
          <p:cNvPicPr>
            <a:picLocks noChangeAspect="1"/>
          </p:cNvPicPr>
          <p:nvPr/>
        </p:nvPicPr>
        <p:blipFill>
          <a:blip r:embed="rId7"/>
          <a:stretch>
            <a:fillRect/>
          </a:stretch>
        </p:blipFill>
        <p:spPr>
          <a:xfrm>
            <a:off x="6483096" y="2761488"/>
            <a:ext cx="256032" cy="256032"/>
          </a:xfrm>
          <a:prstGeom prst="rect">
            <a:avLst/>
          </a:prstGeom>
        </p:spPr>
      </p:pic>
      <p:sp>
        <p:nvSpPr>
          <p:cNvPr id="28" name="TextBox 27"/>
          <p:cNvSpPr txBox="1"/>
          <p:nvPr/>
        </p:nvSpPr>
        <p:spPr>
          <a:xfrm>
            <a:off x="7040880" y="2542032"/>
            <a:ext cx="4526280" cy="694944"/>
          </a:xfrm>
          <a:prstGeom prst="rect">
            <a:avLst/>
          </a:prstGeom>
          <a:noFill/>
        </p:spPr>
        <p:txBody>
          <a:bodyPr wrap="square" lIns="0" tIns="0" rIns="0" bIns="0" anchor="ctr">
            <a:spAutoFit/>
          </a:bodyPr>
          <a:lstStyle/>
          <a:p>
            <a:pPr algn="l">
              <a:spcAft>
                <a:spcPts val="400"/>
              </a:spcAft>
            </a:pPr>
            <a:r>
              <a:rPr sz="1400" b="1">
                <a:solidFill>
                  <a:srgbClr val="1F5CA9"/>
                </a:solidFill>
                <a:latin typeface="Calibri"/>
              </a:rPr>
              <a:t>Chỉ xem là công cụ: </a:t>
            </a:r>
            <a:r>
              <a:rPr sz="1400" b="0">
                <a:solidFill>
                  <a:srgbClr val="1F2937"/>
                </a:solidFill>
                <a:latin typeface="Calibri"/>
              </a:rPr>
              <a:t>mình tự làm là chính, tự chịu trách nhiệm bài làm</a:t>
            </a:r>
          </a:p>
        </p:txBody>
      </p:sp>
      <p:sp>
        <p:nvSpPr>
          <p:cNvPr id="29" name="Rounded Rectangle 28"/>
          <p:cNvSpPr/>
          <p:nvPr/>
        </p:nvSpPr>
        <p:spPr>
          <a:xfrm>
            <a:off x="6245352" y="3346704"/>
            <a:ext cx="5394960"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355080" y="3438144"/>
            <a:ext cx="512064" cy="512064"/>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check_w.png"/>
          <p:cNvPicPr>
            <a:picLocks noChangeAspect="1"/>
          </p:cNvPicPr>
          <p:nvPr/>
        </p:nvPicPr>
        <p:blipFill>
          <a:blip r:embed="rId7"/>
          <a:stretch>
            <a:fillRect/>
          </a:stretch>
        </p:blipFill>
        <p:spPr>
          <a:xfrm>
            <a:off x="6483096" y="3566160"/>
            <a:ext cx="256032" cy="256032"/>
          </a:xfrm>
          <a:prstGeom prst="rect">
            <a:avLst/>
          </a:prstGeom>
        </p:spPr>
      </p:pic>
      <p:sp>
        <p:nvSpPr>
          <p:cNvPr id="32" name="TextBox 31"/>
          <p:cNvSpPr txBox="1"/>
          <p:nvPr/>
        </p:nvSpPr>
        <p:spPr>
          <a:xfrm>
            <a:off x="7040880" y="3346704"/>
            <a:ext cx="4526280" cy="694944"/>
          </a:xfrm>
          <a:prstGeom prst="rect">
            <a:avLst/>
          </a:prstGeom>
          <a:noFill/>
        </p:spPr>
        <p:txBody>
          <a:bodyPr wrap="square" lIns="0" tIns="0" rIns="0" bIns="0" anchor="ctr">
            <a:spAutoFit/>
          </a:bodyPr>
          <a:lstStyle/>
          <a:p>
            <a:pPr algn="l">
              <a:spcAft>
                <a:spcPts val="400"/>
              </a:spcAft>
            </a:pPr>
            <a:r>
              <a:rPr sz="1400" b="1">
                <a:solidFill>
                  <a:srgbClr val="1F5CA9"/>
                </a:solidFill>
                <a:latin typeface="Calibri"/>
              </a:rPr>
              <a:t>Bảo mật thông tin: </a:t>
            </a:r>
            <a:r>
              <a:rPr sz="1400" b="0">
                <a:solidFill>
                  <a:srgbClr val="1F2937"/>
                </a:solidFill>
                <a:latin typeface="Calibri"/>
              </a:rPr>
              <a:t>không nhập mật khẩu, tài khoản, tài liệu riêng tư</a:t>
            </a:r>
          </a:p>
        </p:txBody>
      </p:sp>
      <p:sp>
        <p:nvSpPr>
          <p:cNvPr id="33" name="Rounded Rectangle 32"/>
          <p:cNvSpPr/>
          <p:nvPr/>
        </p:nvSpPr>
        <p:spPr>
          <a:xfrm>
            <a:off x="6245352" y="4151376"/>
            <a:ext cx="5394960"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355080" y="4242816"/>
            <a:ext cx="512064" cy="512064"/>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check_w.png"/>
          <p:cNvPicPr>
            <a:picLocks noChangeAspect="1"/>
          </p:cNvPicPr>
          <p:nvPr/>
        </p:nvPicPr>
        <p:blipFill>
          <a:blip r:embed="rId7"/>
          <a:stretch>
            <a:fillRect/>
          </a:stretch>
        </p:blipFill>
        <p:spPr>
          <a:xfrm>
            <a:off x="6483096" y="4370831"/>
            <a:ext cx="256032" cy="256032"/>
          </a:xfrm>
          <a:prstGeom prst="rect">
            <a:avLst/>
          </a:prstGeom>
        </p:spPr>
      </p:pic>
      <p:sp>
        <p:nvSpPr>
          <p:cNvPr id="36" name="TextBox 35"/>
          <p:cNvSpPr txBox="1"/>
          <p:nvPr/>
        </p:nvSpPr>
        <p:spPr>
          <a:xfrm>
            <a:off x="7040880" y="4151376"/>
            <a:ext cx="4526280" cy="694944"/>
          </a:xfrm>
          <a:prstGeom prst="rect">
            <a:avLst/>
          </a:prstGeom>
          <a:noFill/>
        </p:spPr>
        <p:txBody>
          <a:bodyPr wrap="square" lIns="0" tIns="0" rIns="0" bIns="0" anchor="ctr">
            <a:spAutoFit/>
          </a:bodyPr>
          <a:lstStyle/>
          <a:p>
            <a:pPr algn="l">
              <a:spcAft>
                <a:spcPts val="400"/>
              </a:spcAft>
            </a:pPr>
            <a:r>
              <a:rPr sz="1400" b="1">
                <a:solidFill>
                  <a:srgbClr val="1F5CA9"/>
                </a:solidFill>
                <a:latin typeface="Calibri"/>
              </a:rPr>
              <a:t>Tuân thủ quy định: </a:t>
            </a:r>
            <a:r>
              <a:rPr sz="1400" b="0">
                <a:solidFill>
                  <a:srgbClr val="1F2937"/>
                </a:solidFill>
                <a:latin typeface="Calibri"/>
              </a:rPr>
              <a:t>theo yêu cầu nhà trường, khai báo nếu có dùng AI</a:t>
            </a:r>
          </a:p>
        </p:txBody>
      </p:sp>
      <p:sp>
        <p:nvSpPr>
          <p:cNvPr id="37" name="Rounded Rectangle 36"/>
          <p:cNvSpPr/>
          <p:nvPr/>
        </p:nvSpPr>
        <p:spPr>
          <a:xfrm>
            <a:off x="6245352" y="4956048"/>
            <a:ext cx="5394960"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355080" y="5047488"/>
            <a:ext cx="512064" cy="512064"/>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check_w.png"/>
          <p:cNvPicPr>
            <a:picLocks noChangeAspect="1"/>
          </p:cNvPicPr>
          <p:nvPr/>
        </p:nvPicPr>
        <p:blipFill>
          <a:blip r:embed="rId7"/>
          <a:stretch>
            <a:fillRect/>
          </a:stretch>
        </p:blipFill>
        <p:spPr>
          <a:xfrm>
            <a:off x="6483096" y="5175503"/>
            <a:ext cx="256032" cy="256032"/>
          </a:xfrm>
          <a:prstGeom prst="rect">
            <a:avLst/>
          </a:prstGeom>
        </p:spPr>
      </p:pic>
      <p:sp>
        <p:nvSpPr>
          <p:cNvPr id="40" name="TextBox 39"/>
          <p:cNvSpPr txBox="1"/>
          <p:nvPr/>
        </p:nvSpPr>
        <p:spPr>
          <a:xfrm>
            <a:off x="7040880" y="4956048"/>
            <a:ext cx="4526280" cy="694944"/>
          </a:xfrm>
          <a:prstGeom prst="rect">
            <a:avLst/>
          </a:prstGeom>
          <a:noFill/>
        </p:spPr>
        <p:txBody>
          <a:bodyPr wrap="square" lIns="0" tIns="0" rIns="0" bIns="0" anchor="ctr">
            <a:spAutoFit/>
          </a:bodyPr>
          <a:lstStyle/>
          <a:p>
            <a:pPr algn="l">
              <a:spcAft>
                <a:spcPts val="400"/>
              </a:spcAft>
            </a:pPr>
            <a:r>
              <a:rPr sz="1400" b="1">
                <a:solidFill>
                  <a:srgbClr val="1F5CA9"/>
                </a:solidFill>
                <a:latin typeface="Calibri"/>
              </a:rPr>
              <a:t>Chủ động tư duy: </a:t>
            </a:r>
            <a:r>
              <a:rPr sz="1400" b="0">
                <a:solidFill>
                  <a:srgbClr val="1F2937"/>
                </a:solidFill>
                <a:latin typeface="Calibri"/>
              </a:rPr>
              <a:t>không để AI làm thay toàn bộ bộ não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274320"/>
            <a:ext cx="10634472" cy="822960"/>
          </a:xfrm>
        </p:spPr>
        <p:txBody>
          <a:bodyPr anchor="ctr"/>
          <a:lstStyle/>
          <a:p>
            <a:r>
              <a:rPr sz="3200" dirty="0" err="1"/>
              <a:t>Câu</a:t>
            </a:r>
            <a:r>
              <a:rPr sz="3200" dirty="0"/>
              <a:t> </a:t>
            </a:r>
            <a:r>
              <a:rPr sz="3200" dirty="0" err="1"/>
              <a:t>hỏi</a:t>
            </a:r>
            <a:r>
              <a:rPr sz="3200" dirty="0"/>
              <a:t> </a:t>
            </a:r>
            <a:r>
              <a:rPr sz="3200" dirty="0" err="1"/>
              <a:t>để</a:t>
            </a:r>
            <a:r>
              <a:rPr sz="3200" dirty="0"/>
              <a:t> </a:t>
            </a:r>
            <a:r>
              <a:rPr sz="3200" dirty="0" err="1"/>
              <a:t>thảo</a:t>
            </a:r>
            <a:r>
              <a:rPr sz="3200" dirty="0"/>
              <a:t> </a:t>
            </a:r>
            <a:r>
              <a:rPr sz="3200" dirty="0" err="1"/>
              <a:t>luận</a:t>
            </a:r>
            <a:endParaRPr sz="3200" dirty="0"/>
          </a:p>
        </p:txBody>
      </p:sp>
      <p:sp>
        <p:nvSpPr>
          <p:cNvPr id="3" name="Rounded Rectangle 2"/>
          <p:cNvSpPr/>
          <p:nvPr/>
        </p:nvSpPr>
        <p:spPr>
          <a:xfrm>
            <a:off x="548640" y="1280160"/>
            <a:ext cx="11091672" cy="768096"/>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1520" y="1389888"/>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1</a:t>
            </a:r>
          </a:p>
        </p:txBody>
      </p:sp>
      <p:sp>
        <p:nvSpPr>
          <p:cNvPr id="5" name="TextBox 4"/>
          <p:cNvSpPr txBox="1"/>
          <p:nvPr/>
        </p:nvSpPr>
        <p:spPr>
          <a:xfrm>
            <a:off x="1508760" y="1525708"/>
            <a:ext cx="9966960" cy="276999"/>
          </a:xfrm>
          <a:prstGeom prst="rect">
            <a:avLst/>
          </a:prstGeom>
          <a:noFill/>
        </p:spPr>
        <p:txBody>
          <a:bodyPr wrap="square" lIns="0" tIns="0" rIns="0" bIns="0" anchor="ctr">
            <a:spAutoFit/>
          </a:bodyPr>
          <a:lstStyle/>
          <a:p>
            <a:pPr algn="l">
              <a:spcAft>
                <a:spcPts val="400"/>
              </a:spcAft>
            </a:pPr>
            <a:r>
              <a:rPr sz="1800" b="0" dirty="0" err="1">
                <a:solidFill>
                  <a:srgbClr val="1F2937"/>
                </a:solidFill>
                <a:latin typeface="Calibri"/>
              </a:rPr>
              <a:t>Bạn</a:t>
            </a:r>
            <a:r>
              <a:rPr sz="1800" b="0" dirty="0">
                <a:solidFill>
                  <a:srgbClr val="1F2937"/>
                </a:solidFill>
                <a:latin typeface="Calibri"/>
              </a:rPr>
              <a:t> </a:t>
            </a:r>
            <a:r>
              <a:rPr sz="1800" b="0" dirty="0" err="1">
                <a:solidFill>
                  <a:srgbClr val="1F2937"/>
                </a:solidFill>
                <a:latin typeface="Calibri"/>
              </a:rPr>
              <a:t>đang</a:t>
            </a:r>
            <a:r>
              <a:rPr sz="1800" b="0" dirty="0">
                <a:solidFill>
                  <a:srgbClr val="1F2937"/>
                </a:solidFill>
                <a:latin typeface="Calibri"/>
              </a:rPr>
              <a:t> </a:t>
            </a:r>
            <a:r>
              <a:rPr sz="1800" b="0" dirty="0" err="1">
                <a:solidFill>
                  <a:srgbClr val="1F2937"/>
                </a:solidFill>
                <a:latin typeface="Calibri"/>
              </a:rPr>
              <a:t>dùng</a:t>
            </a:r>
            <a:r>
              <a:rPr sz="1800" b="0" dirty="0">
                <a:solidFill>
                  <a:srgbClr val="1F2937"/>
                </a:solidFill>
                <a:latin typeface="Calibri"/>
              </a:rPr>
              <a:t> </a:t>
            </a:r>
            <a:r>
              <a:rPr sz="1800" b="0" dirty="0" err="1">
                <a:solidFill>
                  <a:srgbClr val="1F2937"/>
                </a:solidFill>
                <a:latin typeface="Calibri"/>
              </a:rPr>
              <a:t>công</a:t>
            </a:r>
            <a:r>
              <a:rPr sz="1800" b="0" dirty="0">
                <a:solidFill>
                  <a:srgbClr val="1F2937"/>
                </a:solidFill>
                <a:latin typeface="Calibri"/>
              </a:rPr>
              <a:t> </a:t>
            </a:r>
            <a:r>
              <a:rPr sz="1800" b="0" dirty="0" err="1">
                <a:solidFill>
                  <a:srgbClr val="1F2937"/>
                </a:solidFill>
                <a:latin typeface="Calibri"/>
              </a:rPr>
              <a:t>cụ</a:t>
            </a:r>
            <a:r>
              <a:rPr sz="1800" b="0" dirty="0">
                <a:solidFill>
                  <a:srgbClr val="1F2937"/>
                </a:solidFill>
                <a:latin typeface="Calibri"/>
              </a:rPr>
              <a:t> </a:t>
            </a:r>
            <a:r>
              <a:rPr lang="en-US" sz="1800" b="0" dirty="0">
                <a:solidFill>
                  <a:srgbClr val="1F2937"/>
                </a:solidFill>
                <a:latin typeface="Calibri"/>
              </a:rPr>
              <a:t>AI </a:t>
            </a:r>
            <a:r>
              <a:rPr lang="en-US" sz="1800" b="0" dirty="0" err="1">
                <a:solidFill>
                  <a:srgbClr val="1F2937"/>
                </a:solidFill>
                <a:latin typeface="Calibri"/>
              </a:rPr>
              <a:t>nào</a:t>
            </a:r>
            <a:r>
              <a:rPr sz="1800" b="0" dirty="0">
                <a:solidFill>
                  <a:srgbClr val="1F2937"/>
                </a:solidFill>
                <a:latin typeface="Calibri"/>
              </a:rPr>
              <a:t>?</a:t>
            </a:r>
          </a:p>
        </p:txBody>
      </p:sp>
      <p:sp>
        <p:nvSpPr>
          <p:cNvPr id="6" name="Rounded Rectangle 5"/>
          <p:cNvSpPr/>
          <p:nvPr/>
        </p:nvSpPr>
        <p:spPr>
          <a:xfrm>
            <a:off x="548640" y="2176272"/>
            <a:ext cx="11091672" cy="768096"/>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2286000"/>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2</a:t>
            </a:r>
          </a:p>
        </p:txBody>
      </p:sp>
      <p:sp>
        <p:nvSpPr>
          <p:cNvPr id="8" name="TextBox 7"/>
          <p:cNvSpPr txBox="1"/>
          <p:nvPr/>
        </p:nvSpPr>
        <p:spPr>
          <a:xfrm>
            <a:off x="1508760" y="2176272"/>
            <a:ext cx="9966960" cy="768096"/>
          </a:xfrm>
          <a:prstGeom prst="rect">
            <a:avLst/>
          </a:prstGeom>
          <a:noFill/>
        </p:spPr>
        <p:txBody>
          <a:bodyPr wrap="square" lIns="0" tIns="0" rIns="0" bIns="0" anchor="ctr">
            <a:spAutoFit/>
          </a:bodyPr>
          <a:lstStyle/>
          <a:p>
            <a:pPr algn="l">
              <a:spcAft>
                <a:spcPts val="400"/>
              </a:spcAft>
            </a:pPr>
            <a:r>
              <a:rPr sz="1800" b="0">
                <a:solidFill>
                  <a:srgbClr val="1F2937"/>
                </a:solidFill>
                <a:latin typeface="Calibri"/>
              </a:rPr>
              <a:t>Khi AI đưa ra thông tin, bạn kiểm chứng bằng cách nào?</a:t>
            </a:r>
          </a:p>
        </p:txBody>
      </p:sp>
      <p:sp>
        <p:nvSpPr>
          <p:cNvPr id="9" name="Rounded Rectangle 8"/>
          <p:cNvSpPr/>
          <p:nvPr/>
        </p:nvSpPr>
        <p:spPr>
          <a:xfrm>
            <a:off x="548640" y="3072384"/>
            <a:ext cx="11091672" cy="768096"/>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 y="3182112"/>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3</a:t>
            </a:r>
          </a:p>
        </p:txBody>
      </p:sp>
      <p:sp>
        <p:nvSpPr>
          <p:cNvPr id="11" name="TextBox 10"/>
          <p:cNvSpPr txBox="1"/>
          <p:nvPr/>
        </p:nvSpPr>
        <p:spPr>
          <a:xfrm>
            <a:off x="1508760" y="3072384"/>
            <a:ext cx="9966960" cy="768096"/>
          </a:xfrm>
          <a:prstGeom prst="rect">
            <a:avLst/>
          </a:prstGeom>
          <a:noFill/>
        </p:spPr>
        <p:txBody>
          <a:bodyPr wrap="square" lIns="0" tIns="0" rIns="0" bIns="0" anchor="ctr">
            <a:spAutoFit/>
          </a:bodyPr>
          <a:lstStyle/>
          <a:p>
            <a:pPr algn="l">
              <a:spcAft>
                <a:spcPts val="400"/>
              </a:spcAft>
            </a:pPr>
            <a:r>
              <a:rPr sz="1800" b="0">
                <a:solidFill>
                  <a:srgbClr val="1F2937"/>
                </a:solidFill>
                <a:latin typeface="Calibri"/>
              </a:rPr>
              <a:t>Ranh giới giữa "AI hỗ trợ" và "AI làm thay" trong bài tập nằm ở đâu?</a:t>
            </a:r>
          </a:p>
        </p:txBody>
      </p:sp>
      <p:sp>
        <p:nvSpPr>
          <p:cNvPr id="12" name="Rounded Rectangle 11"/>
          <p:cNvSpPr/>
          <p:nvPr/>
        </p:nvSpPr>
        <p:spPr>
          <a:xfrm>
            <a:off x="548640" y="3968496"/>
            <a:ext cx="11091672" cy="768096"/>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31520" y="4078224"/>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4</a:t>
            </a:r>
          </a:p>
        </p:txBody>
      </p:sp>
      <p:sp>
        <p:nvSpPr>
          <p:cNvPr id="14" name="TextBox 13"/>
          <p:cNvSpPr txBox="1"/>
          <p:nvPr/>
        </p:nvSpPr>
        <p:spPr>
          <a:xfrm>
            <a:off x="1508760" y="4214044"/>
            <a:ext cx="9966960" cy="276999"/>
          </a:xfrm>
          <a:prstGeom prst="rect">
            <a:avLst/>
          </a:prstGeom>
          <a:noFill/>
        </p:spPr>
        <p:txBody>
          <a:bodyPr wrap="square" lIns="0" tIns="0" rIns="0" bIns="0" anchor="ctr">
            <a:spAutoFit/>
          </a:bodyPr>
          <a:lstStyle/>
          <a:p>
            <a:pPr algn="l">
              <a:spcAft>
                <a:spcPts val="400"/>
              </a:spcAft>
            </a:pPr>
            <a:r>
              <a:rPr sz="1800" b="0" dirty="0" err="1">
                <a:solidFill>
                  <a:srgbClr val="1F2937"/>
                </a:solidFill>
                <a:latin typeface="Calibri"/>
              </a:rPr>
              <a:t>Nếu</a:t>
            </a:r>
            <a:r>
              <a:rPr sz="1800" b="0" dirty="0">
                <a:solidFill>
                  <a:srgbClr val="1F2937"/>
                </a:solidFill>
                <a:latin typeface="Calibri"/>
              </a:rPr>
              <a:t> </a:t>
            </a:r>
            <a:r>
              <a:rPr sz="1800" b="0" dirty="0" err="1">
                <a:solidFill>
                  <a:srgbClr val="1F2937"/>
                </a:solidFill>
                <a:latin typeface="Calibri"/>
              </a:rPr>
              <a:t>chỉ</a:t>
            </a:r>
            <a:r>
              <a:rPr sz="1800" b="0" dirty="0">
                <a:solidFill>
                  <a:srgbClr val="1F2937"/>
                </a:solidFill>
                <a:latin typeface="Calibri"/>
              </a:rPr>
              <a:t> </a:t>
            </a:r>
            <a:r>
              <a:rPr sz="1800" b="0" dirty="0" err="1">
                <a:solidFill>
                  <a:srgbClr val="1F2937"/>
                </a:solidFill>
                <a:latin typeface="Calibri"/>
              </a:rPr>
              <a:t>xem</a:t>
            </a:r>
            <a:r>
              <a:rPr sz="1800" b="0" dirty="0">
                <a:solidFill>
                  <a:srgbClr val="1F2937"/>
                </a:solidFill>
                <a:latin typeface="Calibri"/>
              </a:rPr>
              <a:t> </a:t>
            </a:r>
            <a:r>
              <a:rPr sz="1800" b="0" dirty="0" err="1">
                <a:solidFill>
                  <a:srgbClr val="1F2937"/>
                </a:solidFill>
                <a:latin typeface="Calibri"/>
              </a:rPr>
              <a:t>nội</a:t>
            </a:r>
            <a:r>
              <a:rPr sz="1800" b="0" dirty="0">
                <a:solidFill>
                  <a:srgbClr val="1F2937"/>
                </a:solidFill>
                <a:latin typeface="Calibri"/>
              </a:rPr>
              <a:t> dung do </a:t>
            </a:r>
            <a:r>
              <a:rPr lang="en-US" dirty="0">
                <a:solidFill>
                  <a:srgbClr val="1F2937"/>
                </a:solidFill>
                <a:latin typeface="Calibri"/>
              </a:rPr>
              <a:t>AI</a:t>
            </a:r>
            <a:r>
              <a:rPr sz="1800" b="0" dirty="0">
                <a:solidFill>
                  <a:srgbClr val="1F2937"/>
                </a:solidFill>
                <a:latin typeface="Calibri"/>
              </a:rPr>
              <a:t> </a:t>
            </a:r>
            <a:r>
              <a:rPr sz="1800" b="0" dirty="0" err="1">
                <a:solidFill>
                  <a:srgbClr val="1F2937"/>
                </a:solidFill>
                <a:latin typeface="Calibri"/>
              </a:rPr>
              <a:t>gợi</a:t>
            </a:r>
            <a:r>
              <a:rPr sz="1800" b="0" dirty="0">
                <a:solidFill>
                  <a:srgbClr val="1F2937"/>
                </a:solidFill>
                <a:latin typeface="Calibri"/>
              </a:rPr>
              <a:t> ý </a:t>
            </a:r>
            <a:r>
              <a:rPr sz="1800" b="0" dirty="0" err="1">
                <a:solidFill>
                  <a:srgbClr val="1F2937"/>
                </a:solidFill>
                <a:latin typeface="Calibri"/>
              </a:rPr>
              <a:t>đưa</a:t>
            </a:r>
            <a:r>
              <a:rPr sz="1800" b="0" dirty="0">
                <a:solidFill>
                  <a:srgbClr val="1F2937"/>
                </a:solidFill>
                <a:latin typeface="Calibri"/>
              </a:rPr>
              <a:t> </a:t>
            </a:r>
            <a:r>
              <a:rPr sz="1800" b="0" dirty="0" err="1">
                <a:solidFill>
                  <a:srgbClr val="1F2937"/>
                </a:solidFill>
                <a:latin typeface="Calibri"/>
              </a:rPr>
              <a:t>ra</a:t>
            </a:r>
            <a:r>
              <a:rPr sz="1800" b="0" dirty="0">
                <a:solidFill>
                  <a:srgbClr val="1F2937"/>
                </a:solidFill>
                <a:latin typeface="Calibri"/>
              </a:rPr>
              <a:t>, </a:t>
            </a:r>
            <a:r>
              <a:rPr lang="en-US" dirty="0" err="1">
                <a:solidFill>
                  <a:srgbClr val="1F2937"/>
                </a:solidFill>
                <a:latin typeface="Calibri"/>
              </a:rPr>
              <a:t>bạn</a:t>
            </a:r>
            <a:r>
              <a:rPr sz="1800" b="0" dirty="0">
                <a:solidFill>
                  <a:srgbClr val="1F2937"/>
                </a:solidFill>
                <a:latin typeface="Calibri"/>
              </a:rPr>
              <a:t> </a:t>
            </a:r>
            <a:r>
              <a:rPr sz="1800" b="0" dirty="0" err="1">
                <a:solidFill>
                  <a:srgbClr val="1F2937"/>
                </a:solidFill>
                <a:latin typeface="Calibri"/>
              </a:rPr>
              <a:t>có</a:t>
            </a:r>
            <a:r>
              <a:rPr sz="1800" b="0" dirty="0">
                <a:solidFill>
                  <a:srgbClr val="1F2937"/>
                </a:solidFill>
                <a:latin typeface="Calibri"/>
              </a:rPr>
              <a:t> </a:t>
            </a:r>
            <a:r>
              <a:rPr sz="1800" b="0" dirty="0" err="1">
                <a:solidFill>
                  <a:srgbClr val="1F2937"/>
                </a:solidFill>
                <a:latin typeface="Calibri"/>
              </a:rPr>
              <a:t>thể</a:t>
            </a:r>
            <a:r>
              <a:rPr sz="1800" b="0" dirty="0">
                <a:solidFill>
                  <a:srgbClr val="1F2937"/>
                </a:solidFill>
                <a:latin typeface="Calibri"/>
              </a:rPr>
              <a:t> </a:t>
            </a:r>
            <a:r>
              <a:rPr sz="1800" b="0" dirty="0" err="1">
                <a:solidFill>
                  <a:srgbClr val="1F2937"/>
                </a:solidFill>
                <a:latin typeface="Calibri"/>
              </a:rPr>
              <a:t>bỏ</a:t>
            </a:r>
            <a:r>
              <a:rPr sz="1800" b="0" dirty="0">
                <a:solidFill>
                  <a:srgbClr val="1F2937"/>
                </a:solidFill>
                <a:latin typeface="Calibri"/>
              </a:rPr>
              <a:t> </a:t>
            </a:r>
            <a:r>
              <a:rPr sz="1800" b="0" dirty="0" err="1">
                <a:solidFill>
                  <a:srgbClr val="1F2937"/>
                </a:solidFill>
                <a:latin typeface="Calibri"/>
              </a:rPr>
              <a:t>lỡ</a:t>
            </a:r>
            <a:r>
              <a:rPr sz="1800" b="0" dirty="0">
                <a:solidFill>
                  <a:srgbClr val="1F2937"/>
                </a:solidFill>
                <a:latin typeface="Calibri"/>
              </a:rPr>
              <a:t> </a:t>
            </a:r>
            <a:r>
              <a:rPr sz="1800" b="0" dirty="0" err="1">
                <a:solidFill>
                  <a:srgbClr val="1F2937"/>
                </a:solidFill>
                <a:latin typeface="Calibri"/>
              </a:rPr>
              <a:t>điều</a:t>
            </a:r>
            <a:r>
              <a:rPr sz="1800" b="0" dirty="0">
                <a:solidFill>
                  <a:srgbClr val="1F2937"/>
                </a:solidFill>
                <a:latin typeface="Calibri"/>
              </a:rPr>
              <a:t> </a:t>
            </a:r>
            <a:r>
              <a:rPr sz="1800" b="0" dirty="0" err="1">
                <a:solidFill>
                  <a:srgbClr val="1F2937"/>
                </a:solidFill>
                <a:latin typeface="Calibri"/>
              </a:rPr>
              <a:t>gì</a:t>
            </a:r>
            <a:r>
              <a:rPr sz="1800" b="0" dirty="0">
                <a:solidFill>
                  <a:srgbClr val="1F2937"/>
                </a:solidFill>
                <a:latin typeface="Calibri"/>
              </a:rPr>
              <a:t>?</a:t>
            </a:r>
          </a:p>
        </p:txBody>
      </p:sp>
      <p:sp>
        <p:nvSpPr>
          <p:cNvPr id="15" name="Rounded Rectangle 14"/>
          <p:cNvSpPr/>
          <p:nvPr/>
        </p:nvSpPr>
        <p:spPr>
          <a:xfrm>
            <a:off x="548640" y="4864608"/>
            <a:ext cx="11091672" cy="768096"/>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31520" y="4974336"/>
            <a:ext cx="548640" cy="548640"/>
          </a:xfrm>
          <a:prstGeom prst="ellipse">
            <a:avLst/>
          </a:prstGeom>
          <a:solidFill>
            <a:srgbClr val="1F5C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5</a:t>
            </a:r>
          </a:p>
        </p:txBody>
      </p:sp>
      <p:sp>
        <p:nvSpPr>
          <p:cNvPr id="17" name="TextBox 16"/>
          <p:cNvSpPr txBox="1"/>
          <p:nvPr/>
        </p:nvSpPr>
        <p:spPr>
          <a:xfrm>
            <a:off x="1508760" y="5110156"/>
            <a:ext cx="9966960" cy="276999"/>
          </a:xfrm>
          <a:prstGeom prst="rect">
            <a:avLst/>
          </a:prstGeom>
          <a:noFill/>
        </p:spPr>
        <p:txBody>
          <a:bodyPr wrap="square" lIns="0" tIns="0" rIns="0" bIns="0" anchor="ctr">
            <a:spAutoFit/>
          </a:bodyPr>
          <a:lstStyle/>
          <a:p>
            <a:pPr algn="l">
              <a:spcAft>
                <a:spcPts val="400"/>
              </a:spcAft>
            </a:pPr>
            <a:r>
              <a:rPr lang="en-US" sz="1800" b="0" dirty="0" err="1">
                <a:solidFill>
                  <a:srgbClr val="1F2937"/>
                </a:solidFill>
                <a:latin typeface="Calibri"/>
              </a:rPr>
              <a:t>Bạn</a:t>
            </a:r>
            <a:r>
              <a:rPr lang="en-US" sz="1800" b="0" dirty="0">
                <a:solidFill>
                  <a:srgbClr val="1F2937"/>
                </a:solidFill>
                <a:latin typeface="Calibri"/>
              </a:rPr>
              <a:t> </a:t>
            </a:r>
            <a:r>
              <a:rPr lang="en-US" sz="1800" b="0" dirty="0" err="1">
                <a:solidFill>
                  <a:srgbClr val="1F2937"/>
                </a:solidFill>
                <a:latin typeface="Calibri"/>
              </a:rPr>
              <a:t>đã</a:t>
            </a:r>
            <a:r>
              <a:rPr lang="en-US" sz="1800" b="0" dirty="0">
                <a:solidFill>
                  <a:srgbClr val="1F2937"/>
                </a:solidFill>
                <a:latin typeface="Calibri"/>
              </a:rPr>
              <a:t> </a:t>
            </a:r>
            <a:r>
              <a:rPr lang="en-US" sz="1800" b="0" dirty="0" err="1">
                <a:solidFill>
                  <a:srgbClr val="1F2937"/>
                </a:solidFill>
                <a:latin typeface="Calibri"/>
              </a:rPr>
              <a:t>biết</a:t>
            </a:r>
            <a:r>
              <a:rPr lang="en-US" sz="1800" b="0" dirty="0">
                <a:solidFill>
                  <a:srgbClr val="1F2937"/>
                </a:solidFill>
                <a:latin typeface="Calibri"/>
              </a:rPr>
              <a:t> </a:t>
            </a:r>
            <a:r>
              <a:rPr lang="en-US" sz="1800" b="0" dirty="0" err="1">
                <a:solidFill>
                  <a:srgbClr val="1F2937"/>
                </a:solidFill>
                <a:latin typeface="Calibri"/>
              </a:rPr>
              <a:t>cách</a:t>
            </a:r>
            <a:r>
              <a:rPr lang="en-US" sz="1800" b="0" dirty="0">
                <a:solidFill>
                  <a:srgbClr val="1F2937"/>
                </a:solidFill>
                <a:latin typeface="Calibri"/>
              </a:rPr>
              <a:t> </a:t>
            </a:r>
            <a:r>
              <a:rPr lang="en-US" sz="1800" b="0" dirty="0" err="1">
                <a:solidFill>
                  <a:srgbClr val="1F2937"/>
                </a:solidFill>
                <a:latin typeface="Calibri"/>
              </a:rPr>
              <a:t>sử</a:t>
            </a:r>
            <a:r>
              <a:rPr lang="en-US" sz="1800" b="0" dirty="0">
                <a:solidFill>
                  <a:srgbClr val="1F2937"/>
                </a:solidFill>
                <a:latin typeface="Calibri"/>
              </a:rPr>
              <a:t> </a:t>
            </a:r>
            <a:r>
              <a:rPr lang="en-US" sz="1800" b="0" dirty="0" err="1">
                <a:solidFill>
                  <a:srgbClr val="1F2937"/>
                </a:solidFill>
                <a:latin typeface="Calibri"/>
              </a:rPr>
              <a:t>dụng</a:t>
            </a:r>
            <a:r>
              <a:rPr lang="en-US" sz="1800" b="0" dirty="0">
                <a:solidFill>
                  <a:srgbClr val="1F2937"/>
                </a:solidFill>
                <a:latin typeface="Calibri"/>
              </a:rPr>
              <a:t> AI </a:t>
            </a:r>
            <a:r>
              <a:rPr lang="en-US" sz="1800" b="0" dirty="0" err="1">
                <a:solidFill>
                  <a:srgbClr val="1F2937"/>
                </a:solidFill>
                <a:latin typeface="Calibri"/>
              </a:rPr>
              <a:t>đúng</a:t>
            </a:r>
            <a:r>
              <a:rPr lang="en-US" sz="1800" b="0" dirty="0">
                <a:solidFill>
                  <a:srgbClr val="1F2937"/>
                </a:solidFill>
                <a:latin typeface="Calibri"/>
              </a:rPr>
              <a:t> </a:t>
            </a:r>
            <a:r>
              <a:rPr lang="en-US" sz="1800" b="0" dirty="0" err="1">
                <a:solidFill>
                  <a:srgbClr val="1F2937"/>
                </a:solidFill>
                <a:latin typeface="Calibri"/>
              </a:rPr>
              <a:t>cách</a:t>
            </a:r>
            <a:r>
              <a:rPr lang="en-US" sz="1800" b="0" dirty="0">
                <a:solidFill>
                  <a:srgbClr val="1F2937"/>
                </a:solidFill>
                <a:latin typeface="Calibri"/>
              </a:rPr>
              <a:t> </a:t>
            </a:r>
            <a:r>
              <a:rPr lang="en-US" sz="1800" b="0" dirty="0" err="1">
                <a:solidFill>
                  <a:srgbClr val="1F2937"/>
                </a:solidFill>
                <a:latin typeface="Calibri"/>
              </a:rPr>
              <a:t>chưa</a:t>
            </a:r>
            <a:r>
              <a:rPr lang="en-US" sz="1800" b="0" dirty="0">
                <a:solidFill>
                  <a:srgbClr val="1F2937"/>
                </a:solidFill>
                <a:latin typeface="Calibri"/>
              </a:rPr>
              <a:t>?</a:t>
            </a:r>
            <a:endParaRPr sz="1800" b="0" dirty="0">
              <a:solidFill>
                <a:srgbClr val="1F2937"/>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C</a:t>
            </a:r>
            <a:r>
              <a:rPr lang="en-US" dirty="0"/>
              <a:t>Ả</a:t>
            </a:r>
            <a:r>
              <a:rPr dirty="0"/>
              <a:t>M ƠN</a:t>
            </a:r>
            <a:r>
              <a:rPr lang="en-US" dirty="0"/>
              <a:t> THẦY VÀ CÁC BẠN</a:t>
            </a:r>
            <a:endParaRPr dirty="0"/>
          </a:p>
        </p:txBody>
      </p:sp>
      <p:sp>
        <p:nvSpPr>
          <p:cNvPr id="3" name="Subtitle 2"/>
          <p:cNvSpPr>
            <a:spLocks noGrp="1"/>
          </p:cNvSpPr>
          <p:nvPr>
            <p:ph type="subTitle" idx="1"/>
          </p:nvPr>
        </p:nvSpPr>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4420</TotalTime>
  <Words>1945</Words>
  <Application>Microsoft Office PowerPoint</Application>
  <PresentationFormat>Widescreen</PresentationFormat>
  <Paragraphs>143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Readex Pro</vt:lpstr>
      <vt:lpstr>Calibri</vt:lpstr>
      <vt:lpstr>K2D</vt:lpstr>
      <vt:lpstr>Barlow</vt:lpstr>
      <vt:lpstr>Office Theme</vt:lpstr>
      <vt:lpstr>KHÁM PHÁ CÁC XU HƯỚNG CNTT MỚI NỔI</vt:lpstr>
      <vt:lpstr>Tổng quan chủ đề</vt:lpstr>
      <vt:lpstr>AI là gì? Bốn công nghệ AI phổ biến</vt:lpstr>
      <vt:lpstr>AI trong các công cụ hằng ngày</vt:lpstr>
      <vt:lpstr>Điểm nổi bật từ các nguồn nghiên cứu</vt:lpstr>
      <vt:lpstr>Quy trình nghiên cứu và sự hỗ trợ của AI</vt:lpstr>
      <vt:lpstr>Tóm tắt đánh giá nguồn theo tiêu chí CRAAP</vt:lpstr>
      <vt:lpstr>Kết quả CRAAP: nguồn nào đáng tin?</vt:lpstr>
      <vt:lpstr>Video minh họa</vt:lpstr>
      <vt:lpstr>Rủi ro và nguyên tắc dùng AI</vt:lpstr>
      <vt:lpstr>Câu hỏi để thảo luận</vt:lpstr>
      <vt:lpstr>CẢM ƠN THẦY VÀ CÁC BẠN</vt:lpstr>
    </vt:vector>
  </TitlesOfParts>
  <Company>Can 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PowerPointTemplate_Blank</dc:title>
  <dc:creator>CTU Media</dc:creator>
  <cp:lastModifiedBy>Quan Nguyen</cp:lastModifiedBy>
  <cp:revision>231</cp:revision>
  <dcterms:created xsi:type="dcterms:W3CDTF">2022-07-01T08:15:51Z</dcterms:created>
  <dcterms:modified xsi:type="dcterms:W3CDTF">2026-10-18T13:55:56Z</dcterms:modified>
</cp:coreProperties>
</file>